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18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this is hands-on, not theory. Everyone here already uses Copilot daily — the goal isn't to sell them on it, it's to close the gap between 'it kind of works' and 'it reliably does what I meant, cheaply.' Three arcs today: (1) a fast refresher on prompting fundamentals, (2) how those play out concretely in our stack — Quarkus, LitJS, PL/SQL, (3) how Copilot understands our projects and how to spend fewer tokens. Ask up front: get everyone to think of one real task they'll bring to the exercise at the end. Tell them to keep it open in a scratch note as we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 spend a couple of minutes here even though it's 'basic.' The single most useful idea in the whole talk is 'the model completes text.' If someone internalizes only that, they'll write better prompts without memorizing any technique. Walk the four parts of a prompt with a quick verbal example: 'Fix this' has an instruction but no context, no format, no example — so the model guesses all three. Ask the room: what's a prompt that burned you last week? Nearly always it traces back to a missing piece here. Note that in Copilot the 'context' box is often filled automatically from your open files — we'll come back to that in slide 07.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compresses what would normally be five slides — move at a good clip since the team knows the basics, but don't skip. Spend most time on the right panel: the engineered prompt is only ~15 words longer but removes every guess. Make the token point verbally here because it seeds slide 08: every vague prompt that forces a follow-up re-sends the ENTIRE conversation to the model, so ambiguity isn't just slower, it's literally more expensive. For techniques: few-shot is the highest-leverage one for our work because it locks output format — great when you want Copilot to match an existing pattern. Chain-of-thought matters for debugging logic and SQL query plans. Quick demo option if you have a laptop: show the vague vs engineered test prompt live in Copilot and let them watch the format drift.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model comparison deliberately light — their relative strengths shift every few months and anything specific you say here will be stale by the next quarter. The honest, durable message: both are good; switching models is a cheap debugging move when output is off; the prompt is the real lever. Spend your time on the three surfaces instead, because people conflate them. Key insight for inline: your 'prompt' is mostly the surrounding code and a good comment — you rarely type a chat message. For agent/edits: this is where a vague instruction hurts most, because it'll confidently touch ten files. Scope it: name the file, the method, the desired behavior. Ask the room which surface they use most — most will say inline, and most have never thought of the surrounding code AS a prompt. That reframing is worth dwelling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Quarkus tasks. Talk to WHY the strong versions win, not just that they're longer. Task 1: 'REST endpoint' is ambiguous in Quarkus — JAX-RS or reactive? What DTO? What status code? Injection style? The strong prompt fixes each; note that 'use constructor injection' matters because Copilot will otherwise sometimes emit field @Inject, which we've moved away from. Task 2: the killer phrase is 'follow the pattern already used in CustomerRepository' — this leans directly on Copilot's semantic index (slide 07), so it generates code that matches OUR conventions rather than generic Panache boilerplate. That single clause saves the most review time. Ask the room: how many of you name an existing class in your prompts? Usually few — it's the cheapest quality upgrade available. If you have time, mention native build: if you want GraalVM-friendly code, say so, because reflection-heavy suggestions break native compilation.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Lit tasks. The recurring failure mode with LitElement is that the models sometimes default to React-flavored or vanilla-DOM habits — useState-style thinking, or manual document.querySelector — because there's simply more React in their training data than Lit. So the strong prompts explicitly name the Lit idioms: @property, @state(), static styles, reactive re-render, custom events. Task 1: without 'reactive properties' spelled out, you often get plain class fields that don't trigger re-render — a subtle bug. Task 2: 'don't manually touch the DOM' is a guardrail that prevents the single most common wrong suggestion. Point out the pattern: for a less-common framework, you spend a few extra words steering AWAY from the popular-but-wrong idiom. Tie back to few-shot from slide 02 — if you paste one existing component, Copilot matches your exact style and you barely need to describe anything. That's the highest-leverage move for our LitJS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PL/SQL tasks — this is a big part of the team's day, so give it full weight. Task 1: the wins are schema names (ORDER_PKG, ORDERS.STATUS), the exact error contract (-20001 on no match), and — critically — 'commit nothing, caller controls the transaction.' The models love to sprinkle COMMIT inside procedures, which wrecks transaction control in a larger call chain; you have to tell it not to. Task 2 is the performance one everyone recognizes: 'make it faster' is useless, but naming the actual techniques (set-based UPDATE, BULK COLLECT/FORALL) and adding 'keep behavior identical, flag commit-semantics changes' turns it into a safe, reviewable rewrite. Emphasize the meta-lesson across all three stack slides: the strong prompt always encodes the thing a senior reviewer would catch — injection style in Quarkus, the Lit idiom, transaction control in PL/SQL. You're front-loading the review. Ask: what's the PL/SQL mistake Copilot makes most for you? Bet someone says stray COMMITs or dropping exception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that's most specific to how we work, so give it real time — 4-5 minutes. The big mental shift: you don't have to feed Copilot the project; it already read it. Most of the team over-explains context that Copilot already has from the index, wasting tokens and effort. Left column is 'what it sees for free.' Hit the shared-index point hard: once our repo is on GitHub and you're signed in, the semantic index is built once and shared across the whole team — everyone benefits from the same project intelligence, no per-person setup. Right column is the actionable half. The single highest-value habit is naming real classes/methods in prompts — those strings are literally in the index, so retrieval is exact. Second: 'follow how X does it' — this is how you get code in OUR conventions instead of generic boilerplate, and it ties straight back to the Quarkus repository example on slide 04. Caveat to set expectations: it's retrieval, not analytics — don't ask 'how many times is this called', that's what your IDE's find-references is for. Note I deliberately left out the manual @workspace / #codebase / instructions-file machinery — you can mention it exists as an 'explicit nudge' if someone asks, but the point of this slide is that the automatic understanding is already doing the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correct a common misconception, so handle the framing carefully. Many people believe 'clean up spelling to save tokens' is a big lever — it isn't, and I've put it deliberately at the bottom as a footnote. Lead with the four that genuinely matter, all of which share one root cause: sending more text than the model needs, repeatedly. (1) Pasting whole files — the index already has the file; give the signature or the specific lines. (2) Re-sending context — this surprises people: every single chat turn re-sends the entire prior conversation, so a 30-message thread is paying for 30 messages on every new turn. Starting a fresh chat for a new task is the easiest token win there is. (3) Vague prompts multiply this, because each clarifying round is another full re-send — so ambiguity is expensive in a compounding way, which ties right back to slide 02. (4) Session hygiene — close out stale threads. On the footnote: be explicit that you're pushing back on the spelling myth on purpose — clear writing is good, but optimize the big four. Good place to ask the room to estimate how long their typical Copilot chat thread gets before they start fresh — most never start fresh, and that's the takeaway.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actually running the exercise — this is what makes a 40-minute session land instead of drifting. Give them a real 5 minutes to rewrite their task against the checklist (Task / Context / Idiom / Format / Guardrail — note this checklist deliberately mirrors the stack examples: 'Idiom' and 'Guardrail' are the two the team most often omits). Then get 2-3 people to share their before/after out loud and, if you have a laptop and projector, run one live in Copilot — the contrast between the vague and sharp version is the whole talk in 30 seconds. The three takeaways are your backstop if you're short on time: even if the exercise runs long, land these three. End on the open invitation — working a real stuck prompt live is the best possible ending and usually sparks the most useful discussion. If nobody volunteers, have one of your own ready.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2E"/>
        </a:solidFill>
        <a:effectLst/>
      </p:bgPr>
    </p:bg>
    <p:spTree>
      <p:nvGrpSpPr>
        <p:cNvPr id="1" name=""/>
        <p:cNvGrpSpPr/>
        <p:nvPr/>
      </p:nvGrpSpPr>
      <p:grpSpPr>
        <a:xfrm>
          <a:off x="0" y="0"/>
          <a:ext cx="0" cy="0"/>
          <a:chOff x="0" y="0"/>
          <a:chExt cx="0" cy="0"/>
        </a:xfrm>
      </p:grpSpPr>
      <p:sp>
        <p:nvSpPr>
          <p:cNvPr id="2" name="Shape 0"/>
          <p:cNvSpPr/>
          <p:nvPr/>
        </p:nvSpPr>
        <p:spPr>
          <a:xfrm>
            <a:off x="777240" y="822960"/>
            <a:ext cx="914400" cy="914400"/>
          </a:xfrm>
          <a:prstGeom prst="ellipse">
            <a:avLst/>
          </a:prstGeom>
          <a:solidFill>
            <a:srgbClr val="028090"/>
          </a:solidFill>
          <a:ln/>
        </p:spPr>
      </p:sp>
      <p:pic>
        <p:nvPicPr>
          <p:cNvPr id="3" name="Image 0" descr="preencoded.png"/>
          <p:cNvPicPr>
            <a:picLocks noChangeAspect="1"/>
          </p:cNvPicPr>
          <p:nvPr/>
        </p:nvPicPr>
        <p:blipFill>
          <a:blip r:embed="rId3"/>
          <a:stretch>
            <a:fillRect/>
          </a:stretch>
        </p:blipFill>
        <p:spPr>
          <a:xfrm>
            <a:off x="1024128" y="1069848"/>
            <a:ext cx="420624" cy="420624"/>
          </a:xfrm>
          <a:prstGeom prst="rect">
            <a:avLst/>
          </a:prstGeom>
        </p:spPr>
      </p:pic>
      <p:sp>
        <p:nvSpPr>
          <p:cNvPr id="5" name="Text 2"/>
          <p:cNvSpPr/>
          <p:nvPr/>
        </p:nvSpPr>
        <p:spPr>
          <a:xfrm>
            <a:off x="777240" y="2395728"/>
            <a:ext cx="10607040" cy="1005840"/>
          </a:xfrm>
          <a:prstGeom prst="rect">
            <a:avLst/>
          </a:prstGeom>
          <a:noFill/>
          <a:ln/>
        </p:spPr>
        <p:txBody>
          <a:bodyPr wrap="square" lIns="0" tIns="0" rIns="0" bIns="0" rtlCol="0" anchor="ctr"/>
          <a:lstStyle/>
          <a:p>
            <a:pPr marL="0" indent="0">
              <a:buNone/>
            </a:pPr>
            <a:r>
              <a:rPr lang="en-US" sz="5400" b="1" dirty="0">
                <a:solidFill>
                  <a:srgbClr val="FFFFFF"/>
                </a:solidFill>
                <a:latin typeface="Century Schoolbook" pitchFamily="34" charset="0"/>
                <a:ea typeface="Century Schoolbook" pitchFamily="34" charset="-122"/>
                <a:cs typeface="Century Schoolbook" pitchFamily="34" charset="-120"/>
              </a:rPr>
              <a:t>Prompt Engineering</a:t>
            </a:r>
            <a:endParaRPr lang="en-US" sz="5400" dirty="0"/>
          </a:p>
        </p:txBody>
      </p:sp>
      <p:sp>
        <p:nvSpPr>
          <p:cNvPr id="6" name="Text 3"/>
          <p:cNvSpPr/>
          <p:nvPr/>
        </p:nvSpPr>
        <p:spPr>
          <a:xfrm>
            <a:off x="795528" y="3429000"/>
            <a:ext cx="10607040" cy="640080"/>
          </a:xfrm>
          <a:prstGeom prst="rect">
            <a:avLst/>
          </a:prstGeom>
          <a:noFill/>
          <a:ln/>
        </p:spPr>
        <p:txBody>
          <a:bodyPr wrap="square" lIns="0" tIns="0" rIns="0" bIns="0" rtlCol="0" anchor="ctr"/>
          <a:lstStyle/>
          <a:p>
            <a:pPr marL="0" indent="0">
              <a:buNone/>
            </a:pPr>
            <a:r>
              <a:rPr lang="en-US" sz="2800" i="1" dirty="0">
                <a:solidFill>
                  <a:srgbClr val="00A896"/>
                </a:solidFill>
                <a:latin typeface="Century Schoolbook" pitchFamily="34" charset="0"/>
                <a:ea typeface="Century Schoolbook" pitchFamily="34" charset="-122"/>
                <a:cs typeface="Century Schoolbook" pitchFamily="34" charset="-120"/>
              </a:rPr>
              <a:t>for Copilot, Quarkus, LitJS &amp; PL/SQL</a:t>
            </a:r>
            <a:endParaRPr lang="en-US" sz="2800" dirty="0"/>
          </a:p>
        </p:txBody>
      </p:sp>
      <p:sp>
        <p:nvSpPr>
          <p:cNvPr id="7" name="Text 4"/>
          <p:cNvSpPr/>
          <p:nvPr/>
        </p:nvSpPr>
        <p:spPr>
          <a:xfrm>
            <a:off x="822960" y="4297680"/>
            <a:ext cx="9144000" cy="914400"/>
          </a:xfrm>
          <a:prstGeom prst="rect">
            <a:avLst/>
          </a:prstGeom>
          <a:noFill/>
          <a:ln/>
        </p:spPr>
        <p:txBody>
          <a:bodyPr wrap="square" lIns="0" tIns="0" rIns="0" bIns="0" rtlCol="0" anchor="ctr"/>
          <a:lstStyle/>
          <a:p>
            <a:pPr marL="0" indent="0">
              <a:lnSpc>
                <a:spcPct val="120000"/>
              </a:lnSpc>
              <a:buNone/>
            </a:pPr>
            <a:r>
              <a:rPr lang="en-US" sz="1700" dirty="0">
                <a:solidFill>
                  <a:srgbClr val="CFE6E3"/>
                </a:solidFill>
                <a:latin typeface="Calibri" pitchFamily="34" charset="0"/>
                <a:ea typeface="Calibri" pitchFamily="34" charset="-122"/>
                <a:cs typeface="Calibri" pitchFamily="34" charset="-120"/>
              </a:rPr>
              <a:t>Getting reliable, token-efficient output from Copilot — using the Claude and GPT models — on the code we actually write every day.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01</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What a prompt is — and what it's made of</a:t>
            </a:r>
            <a:endParaRPr lang="en-US" sz="2700" dirty="0"/>
          </a:p>
        </p:txBody>
      </p:sp>
      <p:sp>
        <p:nvSpPr>
          <p:cNvPr id="4" name="Text 2"/>
          <p:cNvSpPr/>
          <p:nvPr/>
        </p:nvSpPr>
        <p:spPr>
          <a:xfrm>
            <a:off x="548640" y="1280160"/>
            <a:ext cx="6309360" cy="1371600"/>
          </a:xfrm>
          <a:prstGeom prst="rect">
            <a:avLst/>
          </a:prstGeom>
          <a:noFill/>
          <a:ln/>
        </p:spPr>
        <p:txBody>
          <a:bodyPr wrap="square" lIns="0" tIns="0" rIns="0" bIns="0" rtlCol="0" anchor="ctr"/>
          <a:lstStyle/>
          <a:p>
            <a:pPr marL="0" indent="0">
              <a:lnSpc>
                <a:spcPct val="125000"/>
              </a:lnSpc>
              <a:buNone/>
            </a:pPr>
            <a:r>
              <a:rPr lang="en-US" sz="1600" dirty="0">
                <a:solidFill>
                  <a:srgbClr val="1E3535"/>
                </a:solidFill>
                <a:latin typeface="Calibri" pitchFamily="34" charset="0"/>
                <a:ea typeface="Calibri" pitchFamily="34" charset="-122"/>
                <a:cs typeface="Calibri" pitchFamily="34" charset="-120"/>
              </a:rPr>
              <a:t>A prompt is the entire input the model sees before it answers. It has no memory of your intent — only the text (and code) you give it. Everything you leave unsaid becomes a guess. "Prompt engineering" is just removing those guesses on purpose.</a:t>
            </a:r>
            <a:endParaRPr lang="en-US" sz="1600" dirty="0"/>
          </a:p>
        </p:txBody>
      </p:sp>
      <p:sp>
        <p:nvSpPr>
          <p:cNvPr id="5" name="Shape 3"/>
          <p:cNvSpPr/>
          <p:nvPr/>
        </p:nvSpPr>
        <p:spPr>
          <a:xfrm>
            <a:off x="548640" y="2880360"/>
            <a:ext cx="6309360" cy="749808"/>
          </a:xfrm>
          <a:prstGeom prst="roundRect">
            <a:avLst>
              <a:gd name="adj" fmla="val 7317"/>
            </a:avLst>
          </a:prstGeom>
          <a:solidFill>
            <a:srgbClr val="FFFFFF"/>
          </a:solidFill>
          <a:ln/>
          <a:effectLst>
            <a:outerShdw blurRad="88900" dist="38100" dir="5400000" algn="bl" rotWithShape="0">
              <a:srgbClr val="0F2E2E">
                <a:alpha val="13000"/>
              </a:srgbClr>
            </a:outerShdw>
          </a:effectLst>
        </p:spPr>
      </p:sp>
      <p:sp>
        <p:nvSpPr>
          <p:cNvPr id="6" name="Shape 4"/>
          <p:cNvSpPr/>
          <p:nvPr/>
        </p:nvSpPr>
        <p:spPr>
          <a:xfrm>
            <a:off x="731520" y="3026664"/>
            <a:ext cx="457200" cy="457200"/>
          </a:xfrm>
          <a:prstGeom prst="ellipse">
            <a:avLst/>
          </a:prstGeom>
          <a:solidFill>
            <a:srgbClr val="F4F8F7"/>
          </a:solidFill>
          <a:ln/>
        </p:spPr>
      </p:sp>
      <p:pic>
        <p:nvPicPr>
          <p:cNvPr id="7" name="Image 0" descr="preencoded.png"/>
          <p:cNvPicPr>
            <a:picLocks noChangeAspect="1"/>
          </p:cNvPicPr>
          <p:nvPr/>
        </p:nvPicPr>
        <p:blipFill>
          <a:blip r:embed="rId3"/>
          <a:stretch>
            <a:fillRect/>
          </a:stretch>
        </p:blipFill>
        <p:spPr>
          <a:xfrm>
            <a:off x="845820" y="3140964"/>
            <a:ext cx="228600" cy="228600"/>
          </a:xfrm>
          <a:prstGeom prst="rect">
            <a:avLst/>
          </a:prstGeom>
        </p:spPr>
      </p:pic>
      <p:sp>
        <p:nvSpPr>
          <p:cNvPr id="8" name="Text 5"/>
          <p:cNvSpPr/>
          <p:nvPr/>
        </p:nvSpPr>
        <p:spPr>
          <a:xfrm>
            <a:off x="1371600" y="2880360"/>
            <a:ext cx="2148840" cy="749808"/>
          </a:xfrm>
          <a:prstGeom prst="rect">
            <a:avLst/>
          </a:prstGeom>
          <a:noFill/>
          <a:ln/>
        </p:spPr>
        <p:txBody>
          <a:bodyPr wrap="square" lIns="0" tIns="0" rIns="0" bIns="0" rtlCol="0" anchor="ctr"/>
          <a:lstStyle/>
          <a:p>
            <a:pPr marL="0" indent="0">
              <a:buNone/>
            </a:pPr>
            <a:r>
              <a:rPr lang="en-US" sz="1500" b="1" dirty="0">
                <a:solidFill>
                  <a:srgbClr val="0F2E2E"/>
                </a:solidFill>
                <a:latin typeface="Calibri" pitchFamily="34" charset="0"/>
                <a:ea typeface="Calibri" pitchFamily="34" charset="-122"/>
                <a:cs typeface="Calibri" pitchFamily="34" charset="-120"/>
              </a:rPr>
              <a:t>Instruction</a:t>
            </a:r>
            <a:endParaRPr lang="en-US" sz="1500" dirty="0"/>
          </a:p>
        </p:txBody>
      </p:sp>
      <p:sp>
        <p:nvSpPr>
          <p:cNvPr id="9" name="Text 6"/>
          <p:cNvSpPr/>
          <p:nvPr/>
        </p:nvSpPr>
        <p:spPr>
          <a:xfrm>
            <a:off x="3429000" y="2880360"/>
            <a:ext cx="3291840" cy="749808"/>
          </a:xfrm>
          <a:prstGeom prst="rect">
            <a:avLst/>
          </a:prstGeom>
          <a:noFill/>
          <a:ln/>
        </p:spPr>
        <p:txBody>
          <a:bodyPr wrap="square" lIns="0" tIns="0" rIns="0" bIns="0" rtlCol="0" anchor="ctr"/>
          <a:lstStyle/>
          <a:p>
            <a:pPr marL="0" indent="0">
              <a:buNone/>
            </a:pPr>
            <a:r>
              <a:rPr lang="en-US" sz="1250" dirty="0">
                <a:solidFill>
                  <a:srgbClr val="5B7373"/>
                </a:solidFill>
                <a:latin typeface="Calibri" pitchFamily="34" charset="0"/>
                <a:ea typeface="Calibri" pitchFamily="34" charset="-122"/>
                <a:cs typeface="Calibri" pitchFamily="34" charset="-120"/>
              </a:rPr>
              <a:t>The one task, stated plainly.</a:t>
            </a:r>
            <a:endParaRPr lang="en-US" sz="1250" dirty="0"/>
          </a:p>
        </p:txBody>
      </p:sp>
      <p:sp>
        <p:nvSpPr>
          <p:cNvPr id="10" name="Shape 7"/>
          <p:cNvSpPr/>
          <p:nvPr/>
        </p:nvSpPr>
        <p:spPr>
          <a:xfrm>
            <a:off x="548640" y="3721608"/>
            <a:ext cx="6309360" cy="749808"/>
          </a:xfrm>
          <a:prstGeom prst="roundRect">
            <a:avLst>
              <a:gd name="adj" fmla="val 7317"/>
            </a:avLst>
          </a:prstGeom>
          <a:solidFill>
            <a:srgbClr val="FFFFFF"/>
          </a:solidFill>
          <a:ln/>
          <a:effectLst>
            <a:outerShdw blurRad="88900" dist="38100" dir="5400000" algn="bl" rotWithShape="0">
              <a:srgbClr val="0F2E2E">
                <a:alpha val="13000"/>
              </a:srgbClr>
            </a:outerShdw>
          </a:effectLst>
        </p:spPr>
      </p:sp>
      <p:sp>
        <p:nvSpPr>
          <p:cNvPr id="11" name="Shape 8"/>
          <p:cNvSpPr/>
          <p:nvPr/>
        </p:nvSpPr>
        <p:spPr>
          <a:xfrm>
            <a:off x="731520" y="3867912"/>
            <a:ext cx="457200" cy="457200"/>
          </a:xfrm>
          <a:prstGeom prst="ellipse">
            <a:avLst/>
          </a:prstGeom>
          <a:solidFill>
            <a:srgbClr val="F4F8F7"/>
          </a:solidFill>
          <a:ln/>
        </p:spPr>
      </p:sp>
      <p:pic>
        <p:nvPicPr>
          <p:cNvPr id="12" name="Image 1" descr="preencoded.png"/>
          <p:cNvPicPr>
            <a:picLocks noChangeAspect="1"/>
          </p:cNvPicPr>
          <p:nvPr/>
        </p:nvPicPr>
        <p:blipFill>
          <a:blip r:embed="rId4"/>
          <a:stretch>
            <a:fillRect/>
          </a:stretch>
        </p:blipFill>
        <p:spPr>
          <a:xfrm>
            <a:off x="845820" y="3982212"/>
            <a:ext cx="228600" cy="228600"/>
          </a:xfrm>
          <a:prstGeom prst="rect">
            <a:avLst/>
          </a:prstGeom>
        </p:spPr>
      </p:pic>
      <p:sp>
        <p:nvSpPr>
          <p:cNvPr id="13" name="Text 9"/>
          <p:cNvSpPr/>
          <p:nvPr/>
        </p:nvSpPr>
        <p:spPr>
          <a:xfrm>
            <a:off x="1371600" y="3721608"/>
            <a:ext cx="2148840" cy="749808"/>
          </a:xfrm>
          <a:prstGeom prst="rect">
            <a:avLst/>
          </a:prstGeom>
          <a:noFill/>
          <a:ln/>
        </p:spPr>
        <p:txBody>
          <a:bodyPr wrap="square" lIns="0" tIns="0" rIns="0" bIns="0" rtlCol="0" anchor="ctr"/>
          <a:lstStyle/>
          <a:p>
            <a:pPr marL="0" indent="0">
              <a:buNone/>
            </a:pPr>
            <a:r>
              <a:rPr lang="en-US" sz="1500" b="1" dirty="0">
                <a:solidFill>
                  <a:srgbClr val="0F2E2E"/>
                </a:solidFill>
                <a:latin typeface="Calibri" pitchFamily="34" charset="0"/>
                <a:ea typeface="Calibri" pitchFamily="34" charset="-122"/>
                <a:cs typeface="Calibri" pitchFamily="34" charset="-120"/>
              </a:rPr>
              <a:t>Context</a:t>
            </a:r>
            <a:endParaRPr lang="en-US" sz="1500" dirty="0"/>
          </a:p>
        </p:txBody>
      </p:sp>
      <p:sp>
        <p:nvSpPr>
          <p:cNvPr id="14" name="Text 10"/>
          <p:cNvSpPr/>
          <p:nvPr/>
        </p:nvSpPr>
        <p:spPr>
          <a:xfrm>
            <a:off x="3429000" y="3721608"/>
            <a:ext cx="3291840" cy="749808"/>
          </a:xfrm>
          <a:prstGeom prst="rect">
            <a:avLst/>
          </a:prstGeom>
          <a:noFill/>
          <a:ln/>
        </p:spPr>
        <p:txBody>
          <a:bodyPr wrap="square" lIns="0" tIns="0" rIns="0" bIns="0" rtlCol="0" anchor="ctr"/>
          <a:lstStyle/>
          <a:p>
            <a:pPr marL="0" indent="0">
              <a:buNone/>
            </a:pPr>
            <a:r>
              <a:rPr lang="en-US" sz="1250" dirty="0">
                <a:solidFill>
                  <a:srgbClr val="5B7373"/>
                </a:solidFill>
                <a:latin typeface="Calibri" pitchFamily="34" charset="0"/>
                <a:ea typeface="Calibri" pitchFamily="34" charset="-122"/>
                <a:cs typeface="Calibri" pitchFamily="34" charset="-120"/>
              </a:rPr>
              <a:t>Stack, constraints, the code it needs to see.</a:t>
            </a:r>
            <a:endParaRPr lang="en-US" sz="1250" dirty="0"/>
          </a:p>
        </p:txBody>
      </p:sp>
      <p:sp>
        <p:nvSpPr>
          <p:cNvPr id="15" name="Shape 11"/>
          <p:cNvSpPr/>
          <p:nvPr/>
        </p:nvSpPr>
        <p:spPr>
          <a:xfrm>
            <a:off x="548640" y="4562856"/>
            <a:ext cx="6309360" cy="749808"/>
          </a:xfrm>
          <a:prstGeom prst="roundRect">
            <a:avLst>
              <a:gd name="adj" fmla="val 7317"/>
            </a:avLst>
          </a:prstGeom>
          <a:solidFill>
            <a:srgbClr val="FFFFFF"/>
          </a:solidFill>
          <a:ln/>
          <a:effectLst>
            <a:outerShdw blurRad="88900" dist="38100" dir="5400000" algn="bl" rotWithShape="0">
              <a:srgbClr val="0F2E2E">
                <a:alpha val="13000"/>
              </a:srgbClr>
            </a:outerShdw>
          </a:effectLst>
        </p:spPr>
      </p:sp>
      <p:sp>
        <p:nvSpPr>
          <p:cNvPr id="16" name="Shape 12"/>
          <p:cNvSpPr/>
          <p:nvPr/>
        </p:nvSpPr>
        <p:spPr>
          <a:xfrm>
            <a:off x="731520" y="4709160"/>
            <a:ext cx="457200" cy="457200"/>
          </a:xfrm>
          <a:prstGeom prst="ellipse">
            <a:avLst/>
          </a:prstGeom>
          <a:solidFill>
            <a:srgbClr val="F4F8F7"/>
          </a:solidFill>
          <a:ln/>
        </p:spPr>
      </p:sp>
      <p:pic>
        <p:nvPicPr>
          <p:cNvPr id="17" name="Image 2" descr="preencoded.png"/>
          <p:cNvPicPr>
            <a:picLocks noChangeAspect="1"/>
          </p:cNvPicPr>
          <p:nvPr/>
        </p:nvPicPr>
        <p:blipFill>
          <a:blip r:embed="rId5"/>
          <a:stretch>
            <a:fillRect/>
          </a:stretch>
        </p:blipFill>
        <p:spPr>
          <a:xfrm>
            <a:off x="845820" y="4823460"/>
            <a:ext cx="228600" cy="228600"/>
          </a:xfrm>
          <a:prstGeom prst="rect">
            <a:avLst/>
          </a:prstGeom>
        </p:spPr>
      </p:pic>
      <p:sp>
        <p:nvSpPr>
          <p:cNvPr id="18" name="Text 13"/>
          <p:cNvSpPr/>
          <p:nvPr/>
        </p:nvSpPr>
        <p:spPr>
          <a:xfrm>
            <a:off x="1371600" y="4562856"/>
            <a:ext cx="2148840" cy="749808"/>
          </a:xfrm>
          <a:prstGeom prst="rect">
            <a:avLst/>
          </a:prstGeom>
          <a:noFill/>
          <a:ln/>
        </p:spPr>
        <p:txBody>
          <a:bodyPr wrap="square" lIns="0" tIns="0" rIns="0" bIns="0" rtlCol="0" anchor="ctr"/>
          <a:lstStyle/>
          <a:p>
            <a:pPr marL="0" indent="0">
              <a:buNone/>
            </a:pPr>
            <a:r>
              <a:rPr lang="en-US" sz="1500" b="1" dirty="0">
                <a:solidFill>
                  <a:srgbClr val="0F2E2E"/>
                </a:solidFill>
                <a:latin typeface="Calibri" pitchFamily="34" charset="0"/>
                <a:ea typeface="Calibri" pitchFamily="34" charset="-122"/>
                <a:cs typeface="Calibri" pitchFamily="34" charset="-120"/>
              </a:rPr>
              <a:t>Examples</a:t>
            </a:r>
            <a:endParaRPr lang="en-US" sz="1500" dirty="0"/>
          </a:p>
        </p:txBody>
      </p:sp>
      <p:sp>
        <p:nvSpPr>
          <p:cNvPr id="19" name="Text 14"/>
          <p:cNvSpPr/>
          <p:nvPr/>
        </p:nvSpPr>
        <p:spPr>
          <a:xfrm>
            <a:off x="3429000" y="4562856"/>
            <a:ext cx="3291840" cy="749808"/>
          </a:xfrm>
          <a:prstGeom prst="rect">
            <a:avLst/>
          </a:prstGeom>
          <a:noFill/>
          <a:ln/>
        </p:spPr>
        <p:txBody>
          <a:bodyPr wrap="square" lIns="0" tIns="0" rIns="0" bIns="0" rtlCol="0" anchor="ctr"/>
          <a:lstStyle/>
          <a:p>
            <a:pPr marL="0" indent="0">
              <a:buNone/>
            </a:pPr>
            <a:r>
              <a:rPr lang="en-US" sz="1250" dirty="0">
                <a:solidFill>
                  <a:srgbClr val="5B7373"/>
                </a:solidFill>
                <a:latin typeface="Calibri" pitchFamily="34" charset="0"/>
                <a:ea typeface="Calibri" pitchFamily="34" charset="-122"/>
                <a:cs typeface="Calibri" pitchFamily="34" charset="-120"/>
              </a:rPr>
              <a:t>A sample of a good answer — shape and style.</a:t>
            </a:r>
            <a:endParaRPr lang="en-US" sz="1250" dirty="0"/>
          </a:p>
        </p:txBody>
      </p:sp>
      <p:sp>
        <p:nvSpPr>
          <p:cNvPr id="20" name="Shape 15"/>
          <p:cNvSpPr/>
          <p:nvPr/>
        </p:nvSpPr>
        <p:spPr>
          <a:xfrm>
            <a:off x="548640" y="5404104"/>
            <a:ext cx="6309360" cy="749808"/>
          </a:xfrm>
          <a:prstGeom prst="roundRect">
            <a:avLst>
              <a:gd name="adj" fmla="val 7317"/>
            </a:avLst>
          </a:prstGeom>
          <a:solidFill>
            <a:srgbClr val="FFFFFF"/>
          </a:solidFill>
          <a:ln/>
          <a:effectLst>
            <a:outerShdw blurRad="88900" dist="38100" dir="5400000" algn="bl" rotWithShape="0">
              <a:srgbClr val="0F2E2E">
                <a:alpha val="13000"/>
              </a:srgbClr>
            </a:outerShdw>
          </a:effectLst>
        </p:spPr>
      </p:sp>
      <p:sp>
        <p:nvSpPr>
          <p:cNvPr id="21" name="Shape 16"/>
          <p:cNvSpPr/>
          <p:nvPr/>
        </p:nvSpPr>
        <p:spPr>
          <a:xfrm>
            <a:off x="731520" y="5550408"/>
            <a:ext cx="457200" cy="457200"/>
          </a:xfrm>
          <a:prstGeom prst="ellipse">
            <a:avLst/>
          </a:prstGeom>
          <a:solidFill>
            <a:srgbClr val="F4F8F7"/>
          </a:solidFill>
          <a:ln/>
        </p:spPr>
      </p:sp>
      <p:pic>
        <p:nvPicPr>
          <p:cNvPr id="22" name="Image 3" descr="preencoded.png"/>
          <p:cNvPicPr>
            <a:picLocks noChangeAspect="1"/>
          </p:cNvPicPr>
          <p:nvPr/>
        </p:nvPicPr>
        <p:blipFill>
          <a:blip r:embed="rId6"/>
          <a:stretch>
            <a:fillRect/>
          </a:stretch>
        </p:blipFill>
        <p:spPr>
          <a:xfrm>
            <a:off x="845820" y="5664708"/>
            <a:ext cx="228600" cy="228600"/>
          </a:xfrm>
          <a:prstGeom prst="rect">
            <a:avLst/>
          </a:prstGeom>
        </p:spPr>
      </p:pic>
      <p:sp>
        <p:nvSpPr>
          <p:cNvPr id="23" name="Text 17"/>
          <p:cNvSpPr/>
          <p:nvPr/>
        </p:nvSpPr>
        <p:spPr>
          <a:xfrm>
            <a:off x="1371600" y="5404104"/>
            <a:ext cx="2148840" cy="749808"/>
          </a:xfrm>
          <a:prstGeom prst="rect">
            <a:avLst/>
          </a:prstGeom>
          <a:noFill/>
          <a:ln/>
        </p:spPr>
        <p:txBody>
          <a:bodyPr wrap="square" lIns="0" tIns="0" rIns="0" bIns="0" rtlCol="0" anchor="ctr"/>
          <a:lstStyle/>
          <a:p>
            <a:pPr marL="0" indent="0">
              <a:buNone/>
            </a:pPr>
            <a:r>
              <a:rPr lang="en-US" sz="1500" b="1" dirty="0">
                <a:solidFill>
                  <a:srgbClr val="0F2E2E"/>
                </a:solidFill>
                <a:latin typeface="Calibri" pitchFamily="34" charset="0"/>
                <a:ea typeface="Calibri" pitchFamily="34" charset="-122"/>
                <a:cs typeface="Calibri" pitchFamily="34" charset="-120"/>
              </a:rPr>
              <a:t>Format</a:t>
            </a:r>
            <a:endParaRPr lang="en-US" sz="1500" dirty="0"/>
          </a:p>
        </p:txBody>
      </p:sp>
      <p:sp>
        <p:nvSpPr>
          <p:cNvPr id="24" name="Text 18"/>
          <p:cNvSpPr/>
          <p:nvPr/>
        </p:nvSpPr>
        <p:spPr>
          <a:xfrm>
            <a:off x="3429000" y="5404104"/>
            <a:ext cx="3291840" cy="749808"/>
          </a:xfrm>
          <a:prstGeom prst="rect">
            <a:avLst/>
          </a:prstGeom>
          <a:noFill/>
          <a:ln/>
        </p:spPr>
        <p:txBody>
          <a:bodyPr wrap="square" lIns="0" tIns="0" rIns="0" bIns="0" rtlCol="0" anchor="ctr"/>
          <a:lstStyle/>
          <a:p>
            <a:pPr marL="0" indent="0">
              <a:buNone/>
            </a:pPr>
            <a:r>
              <a:rPr lang="en-US" sz="1250" dirty="0">
                <a:solidFill>
                  <a:srgbClr val="5B7373"/>
                </a:solidFill>
                <a:latin typeface="Calibri" pitchFamily="34" charset="0"/>
                <a:ea typeface="Calibri" pitchFamily="34" charset="-122"/>
                <a:cs typeface="Calibri" pitchFamily="34" charset="-120"/>
              </a:rPr>
              <a:t>How the output should be structured.</a:t>
            </a:r>
            <a:endParaRPr lang="en-US" sz="1250" dirty="0"/>
          </a:p>
        </p:txBody>
      </p:sp>
      <p:sp>
        <p:nvSpPr>
          <p:cNvPr id="25" name="Shape 19"/>
          <p:cNvSpPr/>
          <p:nvPr/>
        </p:nvSpPr>
        <p:spPr>
          <a:xfrm>
            <a:off x="7315200" y="1280160"/>
            <a:ext cx="4297680" cy="5029200"/>
          </a:xfrm>
          <a:prstGeom prst="roundRect">
            <a:avLst>
              <a:gd name="adj" fmla="val 1702"/>
            </a:avLst>
          </a:prstGeom>
          <a:solidFill>
            <a:srgbClr val="0F2E2E"/>
          </a:solidFill>
          <a:ln/>
          <a:effectLst>
            <a:outerShdw blurRad="88900" dist="38100" dir="5400000" algn="bl" rotWithShape="0">
              <a:srgbClr val="0F2E2E">
                <a:alpha val="13000"/>
              </a:srgbClr>
            </a:outerShdw>
          </a:effectLst>
        </p:spPr>
      </p:sp>
      <p:sp>
        <p:nvSpPr>
          <p:cNvPr id="26" name="Text 20"/>
          <p:cNvSpPr/>
          <p:nvPr/>
        </p:nvSpPr>
        <p:spPr>
          <a:xfrm>
            <a:off x="7635240" y="1600200"/>
            <a:ext cx="3657600" cy="320040"/>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THE MENTAL MODEL</a:t>
            </a:r>
            <a:endParaRPr lang="en-US" sz="1200" dirty="0"/>
          </a:p>
        </p:txBody>
      </p:sp>
      <p:sp>
        <p:nvSpPr>
          <p:cNvPr id="27" name="Text 21"/>
          <p:cNvSpPr/>
          <p:nvPr/>
        </p:nvSpPr>
        <p:spPr>
          <a:xfrm>
            <a:off x="7635240" y="2011680"/>
            <a:ext cx="3657600" cy="1280160"/>
          </a:xfrm>
          <a:prstGeom prst="rect">
            <a:avLst/>
          </a:prstGeom>
          <a:noFill/>
          <a:ln/>
        </p:spPr>
        <p:txBody>
          <a:bodyPr wrap="square" lIns="0" tIns="0" rIns="0" bIns="0" rtlCol="0" anchor="ctr"/>
          <a:lstStyle/>
          <a:p>
            <a:pPr marL="0" indent="0">
              <a:lnSpc>
                <a:spcPct val="110000"/>
              </a:lnSpc>
              <a:buNone/>
            </a:pPr>
            <a:r>
              <a:rPr lang="en-US" sz="2400" b="1" dirty="0">
                <a:solidFill>
                  <a:srgbClr val="FFFFFF"/>
                </a:solidFill>
                <a:latin typeface="Century Schoolbook" pitchFamily="34" charset="0"/>
                <a:ea typeface="Century Schoolbook" pitchFamily="34" charset="-122"/>
                <a:cs typeface="Century Schoolbook" pitchFamily="34" charset="-120"/>
              </a:rPr>
              <a:t>The model completes your text. It does not read your mind.</a:t>
            </a:r>
            <a:endParaRPr lang="en-US" sz="2400" dirty="0"/>
          </a:p>
        </p:txBody>
      </p:sp>
      <p:sp>
        <p:nvSpPr>
          <p:cNvPr id="28" name="Text 22"/>
          <p:cNvSpPr/>
          <p:nvPr/>
        </p:nvSpPr>
        <p:spPr>
          <a:xfrm>
            <a:off x="7635240" y="3657600"/>
            <a:ext cx="3657600" cy="2377440"/>
          </a:xfrm>
          <a:prstGeom prst="rect">
            <a:avLst/>
          </a:prstGeom>
          <a:noFill/>
          <a:ln/>
        </p:spPr>
        <p:txBody>
          <a:bodyPr wrap="square" lIns="0" tIns="0" rIns="0" bIns="0" rtlCol="0" anchor="ctr"/>
          <a:lstStyle/>
          <a:p>
            <a:pPr marL="0" indent="0">
              <a:lnSpc>
                <a:spcPct val="130000"/>
              </a:lnSpc>
              <a:buNone/>
            </a:pPr>
            <a:r>
              <a:rPr lang="en-US" sz="1500" b="1" dirty="0">
                <a:solidFill>
                  <a:srgbClr val="FFFFFF"/>
                </a:solidFill>
                <a:latin typeface="Calibri" pitchFamily="34" charset="0"/>
                <a:ea typeface="Calibri" pitchFamily="34" charset="-122"/>
                <a:cs typeface="Calibri" pitchFamily="34" charset="-120"/>
              </a:rPr>
              <a:t>Hold onto this all session. </a:t>
            </a:r>
            <a:endParaRPr lang="en-US" sz="1500" dirty="0"/>
          </a:p>
          <a:p>
            <a:pPr marL="0" indent="0">
              <a:lnSpc>
                <a:spcPct val="130000"/>
              </a:lnSpc>
              <a:buNone/>
            </a:pPr>
            <a:r>
              <a:rPr lang="en-US" sz="1500" dirty="0">
                <a:solidFill>
                  <a:srgbClr val="CFE6E3"/>
                </a:solidFill>
                <a:latin typeface="Calibri" pitchFamily="34" charset="0"/>
                <a:ea typeface="Calibri" pitchFamily="34" charset="-122"/>
                <a:cs typeface="Calibri" pitchFamily="34" charset="-120"/>
              </a:rPr>
              <a:t>Almost every technique later is just a different way of removing ambiguity so the model's most likely completion is the one you wanted.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02</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The fundamentals, in one place</a:t>
            </a:r>
            <a:endParaRPr lang="en-US" sz="2700" dirty="0"/>
          </a:p>
        </p:txBody>
      </p:sp>
      <p:sp>
        <p:nvSpPr>
          <p:cNvPr id="4" name="Text 2"/>
          <p:cNvSpPr/>
          <p:nvPr/>
        </p:nvSpPr>
        <p:spPr>
          <a:xfrm>
            <a:off x="548640" y="1234440"/>
            <a:ext cx="4572000" cy="27432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FIVE PRINCIPLES</a:t>
            </a:r>
            <a:endParaRPr lang="en-US" sz="1200" dirty="0"/>
          </a:p>
        </p:txBody>
      </p:sp>
      <p:sp>
        <p:nvSpPr>
          <p:cNvPr id="5" name="Shape 3"/>
          <p:cNvSpPr/>
          <p:nvPr/>
        </p:nvSpPr>
        <p:spPr>
          <a:xfrm>
            <a:off x="548640" y="1600200"/>
            <a:ext cx="457200" cy="457200"/>
          </a:xfrm>
          <a:prstGeom prst="ellipse">
            <a:avLst/>
          </a:prstGeom>
          <a:solidFill>
            <a:srgbClr val="F4F8F7"/>
          </a:solidFill>
          <a:ln/>
        </p:spPr>
      </p:sp>
      <p:pic>
        <p:nvPicPr>
          <p:cNvPr id="6" name="Image 0" descr="preencoded.png"/>
          <p:cNvPicPr>
            <a:picLocks noChangeAspect="1"/>
          </p:cNvPicPr>
          <p:nvPr/>
        </p:nvPicPr>
        <p:blipFill>
          <a:blip r:embed="rId3"/>
          <a:stretch>
            <a:fillRect/>
          </a:stretch>
        </p:blipFill>
        <p:spPr>
          <a:xfrm>
            <a:off x="662940" y="1714500"/>
            <a:ext cx="228600" cy="228600"/>
          </a:xfrm>
          <a:prstGeom prst="rect">
            <a:avLst/>
          </a:prstGeom>
        </p:spPr>
      </p:pic>
      <p:sp>
        <p:nvSpPr>
          <p:cNvPr id="7" name="Text 4"/>
          <p:cNvSpPr/>
          <p:nvPr/>
        </p:nvSpPr>
        <p:spPr>
          <a:xfrm>
            <a:off x="1143000" y="1572768"/>
            <a:ext cx="5029200" cy="512064"/>
          </a:xfrm>
          <a:prstGeom prst="rect">
            <a:avLst/>
          </a:prstGeom>
          <a:noFill/>
          <a:ln/>
        </p:spPr>
        <p:txBody>
          <a:bodyPr wrap="square" lIns="0" tIns="0" rIns="0" bIns="0" rtlCol="0" anchor="ctr"/>
          <a:lstStyle/>
          <a:p>
            <a:pPr marL="0" indent="0">
              <a:lnSpc>
                <a:spcPct val="100000"/>
              </a:lnSpc>
              <a:buNone/>
            </a:pPr>
            <a:r>
              <a:rPr lang="en-US" sz="1250" b="1" dirty="0">
                <a:solidFill>
                  <a:srgbClr val="0F2E2E"/>
                </a:solidFill>
                <a:latin typeface="Calibri" pitchFamily="34" charset="0"/>
                <a:ea typeface="Calibri" pitchFamily="34" charset="-122"/>
                <a:cs typeface="Calibri" pitchFamily="34" charset="-120"/>
              </a:rPr>
              <a:t>Be specific  </a:t>
            </a:r>
            <a:r>
              <a:rPr lang="en-US" sz="1250" dirty="0">
                <a:solidFill>
                  <a:srgbClr val="5B7373"/>
                </a:solidFill>
                <a:latin typeface="Calibri" pitchFamily="34" charset="0"/>
                <a:ea typeface="Calibri" pitchFamily="34" charset="-122"/>
                <a:cs typeface="Calibri" pitchFamily="34" charset="-120"/>
              </a:rPr>
              <a:t>Name audience, length, scope, what to exclude.</a:t>
            </a:r>
            <a:endParaRPr lang="en-US" sz="1250" dirty="0"/>
          </a:p>
        </p:txBody>
      </p:sp>
      <p:sp>
        <p:nvSpPr>
          <p:cNvPr id="8" name="Shape 5"/>
          <p:cNvSpPr/>
          <p:nvPr/>
        </p:nvSpPr>
        <p:spPr>
          <a:xfrm>
            <a:off x="548640" y="2167128"/>
            <a:ext cx="457200" cy="457200"/>
          </a:xfrm>
          <a:prstGeom prst="ellipse">
            <a:avLst/>
          </a:prstGeom>
          <a:solidFill>
            <a:srgbClr val="F4F8F7"/>
          </a:solidFill>
          <a:ln/>
        </p:spPr>
      </p:sp>
      <p:pic>
        <p:nvPicPr>
          <p:cNvPr id="9" name="Image 1" descr="preencoded.png"/>
          <p:cNvPicPr>
            <a:picLocks noChangeAspect="1"/>
          </p:cNvPicPr>
          <p:nvPr/>
        </p:nvPicPr>
        <p:blipFill>
          <a:blip r:embed="rId4"/>
          <a:stretch>
            <a:fillRect/>
          </a:stretch>
        </p:blipFill>
        <p:spPr>
          <a:xfrm>
            <a:off x="662940" y="2281428"/>
            <a:ext cx="228600" cy="228600"/>
          </a:xfrm>
          <a:prstGeom prst="rect">
            <a:avLst/>
          </a:prstGeom>
        </p:spPr>
      </p:pic>
      <p:sp>
        <p:nvSpPr>
          <p:cNvPr id="10" name="Text 6"/>
          <p:cNvSpPr/>
          <p:nvPr/>
        </p:nvSpPr>
        <p:spPr>
          <a:xfrm>
            <a:off x="1143000" y="2139696"/>
            <a:ext cx="5029200" cy="512064"/>
          </a:xfrm>
          <a:prstGeom prst="rect">
            <a:avLst/>
          </a:prstGeom>
          <a:noFill/>
          <a:ln/>
        </p:spPr>
        <p:txBody>
          <a:bodyPr wrap="square" lIns="0" tIns="0" rIns="0" bIns="0" rtlCol="0" anchor="ctr"/>
          <a:lstStyle/>
          <a:p>
            <a:pPr marL="0" indent="0">
              <a:lnSpc>
                <a:spcPct val="100000"/>
              </a:lnSpc>
              <a:buNone/>
            </a:pPr>
            <a:r>
              <a:rPr lang="en-US" sz="1250" b="1" dirty="0">
                <a:solidFill>
                  <a:srgbClr val="0F2E2E"/>
                </a:solidFill>
                <a:latin typeface="Calibri" pitchFamily="34" charset="0"/>
                <a:ea typeface="Calibri" pitchFamily="34" charset="-122"/>
                <a:cs typeface="Calibri" pitchFamily="34" charset="-120"/>
              </a:rPr>
              <a:t>Give structure  </a:t>
            </a:r>
            <a:r>
              <a:rPr lang="en-US" sz="1250" dirty="0">
                <a:solidFill>
                  <a:srgbClr val="5B7373"/>
                </a:solidFill>
                <a:latin typeface="Calibri" pitchFamily="34" charset="0"/>
                <a:ea typeface="Calibri" pitchFamily="34" charset="-122"/>
                <a:cs typeface="Calibri" pitchFamily="34" charset="-120"/>
              </a:rPr>
              <a:t>Ask for steps/schema — structure in = structure out.</a:t>
            </a:r>
            <a:endParaRPr lang="en-US" sz="1250" dirty="0"/>
          </a:p>
        </p:txBody>
      </p:sp>
      <p:sp>
        <p:nvSpPr>
          <p:cNvPr id="11" name="Shape 7"/>
          <p:cNvSpPr/>
          <p:nvPr/>
        </p:nvSpPr>
        <p:spPr>
          <a:xfrm>
            <a:off x="548640" y="2734056"/>
            <a:ext cx="457200" cy="457200"/>
          </a:xfrm>
          <a:prstGeom prst="ellipse">
            <a:avLst/>
          </a:prstGeom>
          <a:solidFill>
            <a:srgbClr val="F4F8F7"/>
          </a:solidFill>
          <a:ln/>
        </p:spPr>
      </p:sp>
      <p:pic>
        <p:nvPicPr>
          <p:cNvPr id="12" name="Image 2" descr="preencoded.png"/>
          <p:cNvPicPr>
            <a:picLocks noChangeAspect="1"/>
          </p:cNvPicPr>
          <p:nvPr/>
        </p:nvPicPr>
        <p:blipFill>
          <a:blip r:embed="rId5"/>
          <a:stretch>
            <a:fillRect/>
          </a:stretch>
        </p:blipFill>
        <p:spPr>
          <a:xfrm>
            <a:off x="662940" y="2848356"/>
            <a:ext cx="228600" cy="228600"/>
          </a:xfrm>
          <a:prstGeom prst="rect">
            <a:avLst/>
          </a:prstGeom>
        </p:spPr>
      </p:pic>
      <p:sp>
        <p:nvSpPr>
          <p:cNvPr id="13" name="Text 8"/>
          <p:cNvSpPr/>
          <p:nvPr/>
        </p:nvSpPr>
        <p:spPr>
          <a:xfrm>
            <a:off x="1143000" y="2706624"/>
            <a:ext cx="5029200" cy="512064"/>
          </a:xfrm>
          <a:prstGeom prst="rect">
            <a:avLst/>
          </a:prstGeom>
          <a:noFill/>
          <a:ln/>
        </p:spPr>
        <p:txBody>
          <a:bodyPr wrap="square" lIns="0" tIns="0" rIns="0" bIns="0" rtlCol="0" anchor="ctr"/>
          <a:lstStyle/>
          <a:p>
            <a:pPr marL="0" indent="0">
              <a:lnSpc>
                <a:spcPct val="100000"/>
              </a:lnSpc>
              <a:buNone/>
            </a:pPr>
            <a:r>
              <a:rPr lang="en-US" sz="1250" b="1" dirty="0">
                <a:solidFill>
                  <a:srgbClr val="0F2E2E"/>
                </a:solidFill>
                <a:latin typeface="Calibri" pitchFamily="34" charset="0"/>
                <a:ea typeface="Calibri" pitchFamily="34" charset="-122"/>
                <a:cs typeface="Calibri" pitchFamily="34" charset="-120"/>
              </a:rPr>
              <a:t>Show, don't tell  </a:t>
            </a:r>
            <a:r>
              <a:rPr lang="en-US" sz="1250" dirty="0">
                <a:solidFill>
                  <a:srgbClr val="5B7373"/>
                </a:solidFill>
                <a:latin typeface="Calibri" pitchFamily="34" charset="0"/>
                <a:ea typeface="Calibri" pitchFamily="34" charset="-122"/>
                <a:cs typeface="Calibri" pitchFamily="34" charset="-120"/>
              </a:rPr>
              <a:t>One example beats a paragraph of description.</a:t>
            </a:r>
            <a:endParaRPr lang="en-US" sz="1250" dirty="0"/>
          </a:p>
        </p:txBody>
      </p:sp>
      <p:sp>
        <p:nvSpPr>
          <p:cNvPr id="14" name="Shape 9"/>
          <p:cNvSpPr/>
          <p:nvPr/>
        </p:nvSpPr>
        <p:spPr>
          <a:xfrm>
            <a:off x="548640" y="3300984"/>
            <a:ext cx="457200" cy="457200"/>
          </a:xfrm>
          <a:prstGeom prst="ellipse">
            <a:avLst/>
          </a:prstGeom>
          <a:solidFill>
            <a:srgbClr val="F4F8F7"/>
          </a:solidFill>
          <a:ln/>
        </p:spPr>
      </p:sp>
      <p:pic>
        <p:nvPicPr>
          <p:cNvPr id="15" name="Image 3" descr="preencoded.png"/>
          <p:cNvPicPr>
            <a:picLocks noChangeAspect="1"/>
          </p:cNvPicPr>
          <p:nvPr/>
        </p:nvPicPr>
        <p:blipFill>
          <a:blip r:embed="rId6"/>
          <a:stretch>
            <a:fillRect/>
          </a:stretch>
        </p:blipFill>
        <p:spPr>
          <a:xfrm>
            <a:off x="662940" y="3415284"/>
            <a:ext cx="228600" cy="228600"/>
          </a:xfrm>
          <a:prstGeom prst="rect">
            <a:avLst/>
          </a:prstGeom>
        </p:spPr>
      </p:pic>
      <p:sp>
        <p:nvSpPr>
          <p:cNvPr id="16" name="Text 10"/>
          <p:cNvSpPr/>
          <p:nvPr/>
        </p:nvSpPr>
        <p:spPr>
          <a:xfrm>
            <a:off x="1143000" y="3273552"/>
            <a:ext cx="5029200" cy="512064"/>
          </a:xfrm>
          <a:prstGeom prst="rect">
            <a:avLst/>
          </a:prstGeom>
          <a:noFill/>
          <a:ln/>
        </p:spPr>
        <p:txBody>
          <a:bodyPr wrap="square" lIns="0" tIns="0" rIns="0" bIns="0" rtlCol="0" anchor="ctr"/>
          <a:lstStyle/>
          <a:p>
            <a:pPr marL="0" indent="0">
              <a:lnSpc>
                <a:spcPct val="100000"/>
              </a:lnSpc>
              <a:buNone/>
            </a:pPr>
            <a:r>
              <a:rPr lang="en-US" sz="1250" b="1" dirty="0">
                <a:solidFill>
                  <a:srgbClr val="0F2E2E"/>
                </a:solidFill>
                <a:latin typeface="Calibri" pitchFamily="34" charset="0"/>
                <a:ea typeface="Calibri" pitchFamily="34" charset="-122"/>
                <a:cs typeface="Calibri" pitchFamily="34" charset="-120"/>
              </a:rPr>
              <a:t>Let it reason  </a:t>
            </a:r>
            <a:r>
              <a:rPr lang="en-US" sz="1250" dirty="0">
                <a:solidFill>
                  <a:srgbClr val="5B7373"/>
                </a:solidFill>
                <a:latin typeface="Calibri" pitchFamily="34" charset="0"/>
                <a:ea typeface="Calibri" pitchFamily="34" charset="-122"/>
                <a:cs typeface="Calibri" pitchFamily="34" charset="-120"/>
              </a:rPr>
              <a:t>For logic, ask it to work step by step first.</a:t>
            </a:r>
            <a:endParaRPr lang="en-US" sz="1250" dirty="0"/>
          </a:p>
        </p:txBody>
      </p:sp>
      <p:sp>
        <p:nvSpPr>
          <p:cNvPr id="17" name="Shape 11"/>
          <p:cNvSpPr/>
          <p:nvPr/>
        </p:nvSpPr>
        <p:spPr>
          <a:xfrm>
            <a:off x="548640" y="3867912"/>
            <a:ext cx="457200" cy="457200"/>
          </a:xfrm>
          <a:prstGeom prst="ellipse">
            <a:avLst/>
          </a:prstGeom>
          <a:solidFill>
            <a:srgbClr val="F4F8F7"/>
          </a:solidFill>
          <a:ln/>
        </p:spPr>
      </p:sp>
      <p:pic>
        <p:nvPicPr>
          <p:cNvPr id="18" name="Image 4" descr="preencoded.png"/>
          <p:cNvPicPr>
            <a:picLocks noChangeAspect="1"/>
          </p:cNvPicPr>
          <p:nvPr/>
        </p:nvPicPr>
        <p:blipFill>
          <a:blip r:embed="rId7"/>
          <a:stretch>
            <a:fillRect/>
          </a:stretch>
        </p:blipFill>
        <p:spPr>
          <a:xfrm>
            <a:off x="662940" y="3982212"/>
            <a:ext cx="228600" cy="228600"/>
          </a:xfrm>
          <a:prstGeom prst="rect">
            <a:avLst/>
          </a:prstGeom>
        </p:spPr>
      </p:pic>
      <p:sp>
        <p:nvSpPr>
          <p:cNvPr id="19" name="Text 12"/>
          <p:cNvSpPr/>
          <p:nvPr/>
        </p:nvSpPr>
        <p:spPr>
          <a:xfrm>
            <a:off x="1143000" y="3840480"/>
            <a:ext cx="5029200" cy="512064"/>
          </a:xfrm>
          <a:prstGeom prst="rect">
            <a:avLst/>
          </a:prstGeom>
          <a:noFill/>
          <a:ln/>
        </p:spPr>
        <p:txBody>
          <a:bodyPr wrap="square" lIns="0" tIns="0" rIns="0" bIns="0" rtlCol="0" anchor="ctr"/>
          <a:lstStyle/>
          <a:p>
            <a:pPr marL="0" indent="0">
              <a:lnSpc>
                <a:spcPct val="100000"/>
              </a:lnSpc>
              <a:buNone/>
            </a:pPr>
            <a:r>
              <a:rPr lang="en-US" sz="1250" b="1" dirty="0">
                <a:solidFill>
                  <a:srgbClr val="0F2E2E"/>
                </a:solidFill>
                <a:latin typeface="Calibri" pitchFamily="34" charset="0"/>
                <a:ea typeface="Calibri" pitchFamily="34" charset="-122"/>
                <a:cs typeface="Calibri" pitchFamily="34" charset="-120"/>
              </a:rPr>
              <a:t>Iterate one change  </a:t>
            </a:r>
            <a:r>
              <a:rPr lang="en-US" sz="1250" dirty="0">
                <a:solidFill>
                  <a:srgbClr val="5B7373"/>
                </a:solidFill>
                <a:latin typeface="Calibri" pitchFamily="34" charset="0"/>
                <a:ea typeface="Calibri" pitchFamily="34" charset="-122"/>
                <a:cs typeface="Calibri" pitchFamily="34" charset="-120"/>
              </a:rPr>
              <a:t>Treat prompting like debugging: change one thing.</a:t>
            </a:r>
            <a:endParaRPr lang="en-US" sz="1250" dirty="0"/>
          </a:p>
        </p:txBody>
      </p:sp>
      <p:sp>
        <p:nvSpPr>
          <p:cNvPr id="20" name="Text 13"/>
          <p:cNvSpPr/>
          <p:nvPr/>
        </p:nvSpPr>
        <p:spPr>
          <a:xfrm>
            <a:off x="548640" y="4572000"/>
            <a:ext cx="4572000" cy="27432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FOUR TECHNIQUES</a:t>
            </a:r>
            <a:endParaRPr lang="en-US" sz="1200" dirty="0"/>
          </a:p>
        </p:txBody>
      </p:sp>
      <p:sp>
        <p:nvSpPr>
          <p:cNvPr id="21" name="Shape 14"/>
          <p:cNvSpPr/>
          <p:nvPr/>
        </p:nvSpPr>
        <p:spPr>
          <a:xfrm>
            <a:off x="548640" y="4937760"/>
            <a:ext cx="1353312" cy="1097280"/>
          </a:xfrm>
          <a:prstGeom prst="roundRect">
            <a:avLst>
              <a:gd name="adj" fmla="val 5000"/>
            </a:avLst>
          </a:prstGeom>
          <a:solidFill>
            <a:srgbClr val="FFFFFF"/>
          </a:solidFill>
          <a:ln/>
          <a:effectLst>
            <a:outerShdw blurRad="88900" dist="38100" dir="5400000" algn="bl" rotWithShape="0">
              <a:srgbClr val="0F2E2E">
                <a:alpha val="13000"/>
              </a:srgbClr>
            </a:outerShdw>
          </a:effectLst>
        </p:spPr>
      </p:sp>
      <p:sp>
        <p:nvSpPr>
          <p:cNvPr id="22" name="Text 15"/>
          <p:cNvSpPr/>
          <p:nvPr/>
        </p:nvSpPr>
        <p:spPr>
          <a:xfrm>
            <a:off x="640080" y="5074920"/>
            <a:ext cx="1170432" cy="548640"/>
          </a:xfrm>
          <a:prstGeom prst="rect">
            <a:avLst/>
          </a:prstGeom>
          <a:noFill/>
          <a:ln/>
        </p:spPr>
        <p:txBody>
          <a:bodyPr wrap="square" lIns="0" tIns="0" rIns="0" bIns="0" rtlCol="0" anchor="ctr"/>
          <a:lstStyle/>
          <a:p>
            <a:pPr marL="0" indent="0" algn="ctr">
              <a:buNone/>
            </a:pPr>
            <a:r>
              <a:rPr lang="en-US" sz="1200" b="1" dirty="0">
                <a:solidFill>
                  <a:srgbClr val="0F2E2E"/>
                </a:solidFill>
                <a:latin typeface="Calibri" pitchFamily="34" charset="0"/>
                <a:ea typeface="Calibri" pitchFamily="34" charset="-122"/>
                <a:cs typeface="Calibri" pitchFamily="34" charset="-120"/>
              </a:rPr>
              <a:t>Zero-shot</a:t>
            </a:r>
            <a:endParaRPr lang="en-US" sz="1200" dirty="0"/>
          </a:p>
        </p:txBody>
      </p:sp>
      <p:sp>
        <p:nvSpPr>
          <p:cNvPr id="23" name="Text 16"/>
          <p:cNvSpPr/>
          <p:nvPr/>
        </p:nvSpPr>
        <p:spPr>
          <a:xfrm>
            <a:off x="640080" y="5532120"/>
            <a:ext cx="1170432" cy="411480"/>
          </a:xfrm>
          <a:prstGeom prst="rect">
            <a:avLst/>
          </a:prstGeom>
          <a:noFill/>
          <a:ln/>
        </p:spPr>
        <p:txBody>
          <a:bodyPr wrap="square" lIns="0" tIns="0" rIns="0" bIns="0" rtlCol="0" anchor="ctr"/>
          <a:lstStyle/>
          <a:p>
            <a:pPr marL="0" indent="0" algn="ctr">
              <a:buNone/>
            </a:pPr>
            <a:r>
              <a:rPr lang="en-US" sz="1000" i="1" dirty="0">
                <a:solidFill>
                  <a:srgbClr val="5B7373"/>
                </a:solidFill>
                <a:latin typeface="Calibri" pitchFamily="34" charset="0"/>
                <a:ea typeface="Calibri" pitchFamily="34" charset="-122"/>
                <a:cs typeface="Calibri" pitchFamily="34" charset="-120"/>
              </a:rPr>
              <a:t>just ask</a:t>
            </a:r>
            <a:endParaRPr lang="en-US" sz="1000" dirty="0"/>
          </a:p>
        </p:txBody>
      </p:sp>
      <p:sp>
        <p:nvSpPr>
          <p:cNvPr id="24" name="Shape 17"/>
          <p:cNvSpPr/>
          <p:nvPr/>
        </p:nvSpPr>
        <p:spPr>
          <a:xfrm>
            <a:off x="1975104" y="4937760"/>
            <a:ext cx="1353312" cy="1097280"/>
          </a:xfrm>
          <a:prstGeom prst="roundRect">
            <a:avLst>
              <a:gd name="adj" fmla="val 5000"/>
            </a:avLst>
          </a:prstGeom>
          <a:solidFill>
            <a:srgbClr val="FFFFFF"/>
          </a:solidFill>
          <a:ln/>
          <a:effectLst>
            <a:outerShdw blurRad="88900" dist="38100" dir="5400000" algn="bl" rotWithShape="0">
              <a:srgbClr val="0F2E2E">
                <a:alpha val="13000"/>
              </a:srgbClr>
            </a:outerShdw>
          </a:effectLst>
        </p:spPr>
      </p:sp>
      <p:sp>
        <p:nvSpPr>
          <p:cNvPr id="25" name="Text 18"/>
          <p:cNvSpPr/>
          <p:nvPr/>
        </p:nvSpPr>
        <p:spPr>
          <a:xfrm>
            <a:off x="2066544" y="5074920"/>
            <a:ext cx="1170432" cy="548640"/>
          </a:xfrm>
          <a:prstGeom prst="rect">
            <a:avLst/>
          </a:prstGeom>
          <a:noFill/>
          <a:ln/>
        </p:spPr>
        <p:txBody>
          <a:bodyPr wrap="square" lIns="0" tIns="0" rIns="0" bIns="0" rtlCol="0" anchor="ctr"/>
          <a:lstStyle/>
          <a:p>
            <a:pPr marL="0" indent="0" algn="ctr">
              <a:buNone/>
            </a:pPr>
            <a:r>
              <a:rPr lang="en-US" sz="1200" b="1" dirty="0">
                <a:solidFill>
                  <a:srgbClr val="0F2E2E"/>
                </a:solidFill>
                <a:latin typeface="Calibri" pitchFamily="34" charset="0"/>
                <a:ea typeface="Calibri" pitchFamily="34" charset="-122"/>
                <a:cs typeface="Calibri" pitchFamily="34" charset="-120"/>
              </a:rPr>
              <a:t>Few-shot</a:t>
            </a:r>
            <a:endParaRPr lang="en-US" sz="1200" dirty="0"/>
          </a:p>
        </p:txBody>
      </p:sp>
      <p:sp>
        <p:nvSpPr>
          <p:cNvPr id="26" name="Text 19"/>
          <p:cNvSpPr/>
          <p:nvPr/>
        </p:nvSpPr>
        <p:spPr>
          <a:xfrm>
            <a:off x="2066544" y="5532120"/>
            <a:ext cx="1170432" cy="411480"/>
          </a:xfrm>
          <a:prstGeom prst="rect">
            <a:avLst/>
          </a:prstGeom>
          <a:noFill/>
          <a:ln/>
        </p:spPr>
        <p:txBody>
          <a:bodyPr wrap="square" lIns="0" tIns="0" rIns="0" bIns="0" rtlCol="0" anchor="ctr"/>
          <a:lstStyle/>
          <a:p>
            <a:pPr marL="0" indent="0" algn="ctr">
              <a:buNone/>
            </a:pPr>
            <a:r>
              <a:rPr lang="en-US" sz="1000" i="1" dirty="0">
                <a:solidFill>
                  <a:srgbClr val="5B7373"/>
                </a:solidFill>
                <a:latin typeface="Calibri" pitchFamily="34" charset="0"/>
                <a:ea typeface="Calibri" pitchFamily="34" charset="-122"/>
                <a:cs typeface="Calibri" pitchFamily="34" charset="-120"/>
              </a:rPr>
              <a:t>give examples</a:t>
            </a:r>
            <a:endParaRPr lang="en-US" sz="1000" dirty="0"/>
          </a:p>
        </p:txBody>
      </p:sp>
      <p:sp>
        <p:nvSpPr>
          <p:cNvPr id="27" name="Shape 20"/>
          <p:cNvSpPr/>
          <p:nvPr/>
        </p:nvSpPr>
        <p:spPr>
          <a:xfrm>
            <a:off x="3401568" y="4937760"/>
            <a:ext cx="1353312" cy="1097280"/>
          </a:xfrm>
          <a:prstGeom prst="roundRect">
            <a:avLst>
              <a:gd name="adj" fmla="val 5000"/>
            </a:avLst>
          </a:prstGeom>
          <a:solidFill>
            <a:srgbClr val="FFFFFF"/>
          </a:solidFill>
          <a:ln/>
          <a:effectLst>
            <a:outerShdw blurRad="88900" dist="38100" dir="5400000" algn="bl" rotWithShape="0">
              <a:srgbClr val="0F2E2E">
                <a:alpha val="13000"/>
              </a:srgbClr>
            </a:outerShdw>
          </a:effectLst>
        </p:spPr>
      </p:sp>
      <p:sp>
        <p:nvSpPr>
          <p:cNvPr id="28" name="Text 21"/>
          <p:cNvSpPr/>
          <p:nvPr/>
        </p:nvSpPr>
        <p:spPr>
          <a:xfrm>
            <a:off x="3493008" y="5074920"/>
            <a:ext cx="1170432" cy="548640"/>
          </a:xfrm>
          <a:prstGeom prst="rect">
            <a:avLst/>
          </a:prstGeom>
          <a:noFill/>
          <a:ln/>
        </p:spPr>
        <p:txBody>
          <a:bodyPr wrap="square" lIns="0" tIns="0" rIns="0" bIns="0" rtlCol="0" anchor="ctr"/>
          <a:lstStyle/>
          <a:p>
            <a:pPr marL="0" indent="0" algn="ctr">
              <a:buNone/>
            </a:pPr>
            <a:r>
              <a:rPr lang="en-US" sz="1200" b="1" dirty="0">
                <a:solidFill>
                  <a:srgbClr val="0F2E2E"/>
                </a:solidFill>
                <a:latin typeface="Calibri" pitchFamily="34" charset="0"/>
                <a:ea typeface="Calibri" pitchFamily="34" charset="-122"/>
                <a:cs typeface="Calibri" pitchFamily="34" charset="-120"/>
              </a:rPr>
              <a:t>Chain-of-thought</a:t>
            </a:r>
            <a:endParaRPr lang="en-US" sz="1200" dirty="0"/>
          </a:p>
        </p:txBody>
      </p:sp>
      <p:sp>
        <p:nvSpPr>
          <p:cNvPr id="29" name="Text 22"/>
          <p:cNvSpPr/>
          <p:nvPr/>
        </p:nvSpPr>
        <p:spPr>
          <a:xfrm>
            <a:off x="3493008" y="5532120"/>
            <a:ext cx="1170432" cy="411480"/>
          </a:xfrm>
          <a:prstGeom prst="rect">
            <a:avLst/>
          </a:prstGeom>
          <a:noFill/>
          <a:ln/>
        </p:spPr>
        <p:txBody>
          <a:bodyPr wrap="square" lIns="0" tIns="0" rIns="0" bIns="0" rtlCol="0" anchor="ctr"/>
          <a:lstStyle/>
          <a:p>
            <a:pPr marL="0" indent="0" algn="ctr">
              <a:buNone/>
            </a:pPr>
            <a:r>
              <a:rPr lang="en-US" sz="1000" i="1" dirty="0">
                <a:solidFill>
                  <a:srgbClr val="5B7373"/>
                </a:solidFill>
                <a:latin typeface="Calibri" pitchFamily="34" charset="0"/>
                <a:ea typeface="Calibri" pitchFamily="34" charset="-122"/>
                <a:cs typeface="Calibri" pitchFamily="34" charset="-120"/>
              </a:rPr>
              <a:t>"think step by step"</a:t>
            </a:r>
            <a:endParaRPr lang="en-US" sz="1000" dirty="0"/>
          </a:p>
        </p:txBody>
      </p:sp>
      <p:sp>
        <p:nvSpPr>
          <p:cNvPr id="30" name="Shape 23"/>
          <p:cNvSpPr/>
          <p:nvPr/>
        </p:nvSpPr>
        <p:spPr>
          <a:xfrm>
            <a:off x="4828032" y="4937760"/>
            <a:ext cx="1353312" cy="1097280"/>
          </a:xfrm>
          <a:prstGeom prst="roundRect">
            <a:avLst>
              <a:gd name="adj" fmla="val 5000"/>
            </a:avLst>
          </a:prstGeom>
          <a:solidFill>
            <a:srgbClr val="FFFFFF"/>
          </a:solidFill>
          <a:ln/>
          <a:effectLst>
            <a:outerShdw blurRad="88900" dist="38100" dir="5400000" algn="bl" rotWithShape="0">
              <a:srgbClr val="0F2E2E">
                <a:alpha val="13000"/>
              </a:srgbClr>
            </a:outerShdw>
          </a:effectLst>
        </p:spPr>
      </p:sp>
      <p:sp>
        <p:nvSpPr>
          <p:cNvPr id="31" name="Text 24"/>
          <p:cNvSpPr/>
          <p:nvPr/>
        </p:nvSpPr>
        <p:spPr>
          <a:xfrm>
            <a:off x="4919472" y="5074920"/>
            <a:ext cx="1170432" cy="548640"/>
          </a:xfrm>
          <a:prstGeom prst="rect">
            <a:avLst/>
          </a:prstGeom>
          <a:noFill/>
          <a:ln/>
        </p:spPr>
        <p:txBody>
          <a:bodyPr wrap="square" lIns="0" tIns="0" rIns="0" bIns="0" rtlCol="0" anchor="ctr"/>
          <a:lstStyle/>
          <a:p>
            <a:pPr marL="0" indent="0" algn="ctr">
              <a:buNone/>
            </a:pPr>
            <a:r>
              <a:rPr lang="en-US" sz="1200" b="1" dirty="0">
                <a:solidFill>
                  <a:srgbClr val="0F2E2E"/>
                </a:solidFill>
                <a:latin typeface="Calibri" pitchFamily="34" charset="0"/>
                <a:ea typeface="Calibri" pitchFamily="34" charset="-122"/>
                <a:cs typeface="Calibri" pitchFamily="34" charset="-120"/>
              </a:rPr>
              <a:t>Role</a:t>
            </a:r>
            <a:endParaRPr lang="en-US" sz="1200" dirty="0"/>
          </a:p>
        </p:txBody>
      </p:sp>
      <p:sp>
        <p:nvSpPr>
          <p:cNvPr id="32" name="Text 25"/>
          <p:cNvSpPr/>
          <p:nvPr/>
        </p:nvSpPr>
        <p:spPr>
          <a:xfrm>
            <a:off x="4919472" y="5532120"/>
            <a:ext cx="1170432" cy="411480"/>
          </a:xfrm>
          <a:prstGeom prst="rect">
            <a:avLst/>
          </a:prstGeom>
          <a:noFill/>
          <a:ln/>
        </p:spPr>
        <p:txBody>
          <a:bodyPr wrap="square" lIns="0" tIns="0" rIns="0" bIns="0" rtlCol="0" anchor="ctr"/>
          <a:lstStyle/>
          <a:p>
            <a:pPr marL="0" indent="0" algn="ctr">
              <a:buNone/>
            </a:pPr>
            <a:r>
              <a:rPr lang="en-US" sz="1000" i="1" dirty="0">
                <a:solidFill>
                  <a:srgbClr val="5B7373"/>
                </a:solidFill>
                <a:latin typeface="Calibri" pitchFamily="34" charset="0"/>
                <a:ea typeface="Calibri" pitchFamily="34" charset="-122"/>
                <a:cs typeface="Calibri" pitchFamily="34" charset="-120"/>
              </a:rPr>
              <a:t>"act as a reviewer"</a:t>
            </a:r>
            <a:endParaRPr lang="en-US" sz="1000" dirty="0"/>
          </a:p>
        </p:txBody>
      </p:sp>
      <p:sp>
        <p:nvSpPr>
          <p:cNvPr id="33" name="Shape 26"/>
          <p:cNvSpPr/>
          <p:nvPr/>
        </p:nvSpPr>
        <p:spPr>
          <a:xfrm>
            <a:off x="6400800" y="1234440"/>
            <a:ext cx="5212080" cy="5074920"/>
          </a:xfrm>
          <a:prstGeom prst="roundRect">
            <a:avLst>
              <a:gd name="adj" fmla="val 1441"/>
            </a:avLst>
          </a:prstGeom>
          <a:solidFill>
            <a:srgbClr val="0F2E2E"/>
          </a:solidFill>
          <a:ln/>
          <a:effectLst>
            <a:outerShdw blurRad="88900" dist="38100" dir="5400000" algn="bl" rotWithShape="0">
              <a:srgbClr val="0F2E2E">
                <a:alpha val="13000"/>
              </a:srgbClr>
            </a:outerShdw>
          </a:effectLst>
        </p:spPr>
      </p:sp>
      <p:sp>
        <p:nvSpPr>
          <p:cNvPr id="34" name="Text 27"/>
          <p:cNvSpPr/>
          <p:nvPr/>
        </p:nvSpPr>
        <p:spPr>
          <a:xfrm>
            <a:off x="6720840" y="1508760"/>
            <a:ext cx="4572000" cy="274320"/>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WHY IT PAYS OFF</a:t>
            </a:r>
            <a:endParaRPr lang="en-US" sz="1200" dirty="0"/>
          </a:p>
        </p:txBody>
      </p:sp>
      <p:sp>
        <p:nvSpPr>
          <p:cNvPr id="35" name="Text 28"/>
          <p:cNvSpPr/>
          <p:nvPr/>
        </p:nvSpPr>
        <p:spPr>
          <a:xfrm>
            <a:off x="6720840" y="1874520"/>
            <a:ext cx="4572000" cy="292608"/>
          </a:xfrm>
          <a:prstGeom prst="rect">
            <a:avLst/>
          </a:prstGeom>
          <a:noFill/>
          <a:ln/>
        </p:spPr>
        <p:txBody>
          <a:bodyPr wrap="square" lIns="0" tIns="0" rIns="0" bIns="0" rtlCol="0" anchor="ctr"/>
          <a:lstStyle/>
          <a:p>
            <a:pPr marL="0" indent="0">
              <a:buNone/>
            </a:pPr>
            <a:r>
              <a:rPr lang="en-US" sz="1250" b="1" dirty="0">
                <a:solidFill>
                  <a:srgbClr val="B84A2E"/>
                </a:solidFill>
                <a:latin typeface="Calibri" pitchFamily="34" charset="0"/>
                <a:ea typeface="Calibri" pitchFamily="34" charset="-122"/>
                <a:cs typeface="Calibri" pitchFamily="34" charset="-120"/>
              </a:rPr>
              <a:t>Vague</a:t>
            </a:r>
            <a:endParaRPr lang="en-US" sz="1250" dirty="0"/>
          </a:p>
        </p:txBody>
      </p:sp>
      <p:sp>
        <p:nvSpPr>
          <p:cNvPr id="36" name="Text 29"/>
          <p:cNvSpPr/>
          <p:nvPr/>
        </p:nvSpPr>
        <p:spPr>
          <a:xfrm>
            <a:off x="6720840" y="2194560"/>
            <a:ext cx="4572000" cy="365760"/>
          </a:xfrm>
          <a:prstGeom prst="rect">
            <a:avLst/>
          </a:prstGeom>
          <a:noFill/>
          <a:ln/>
        </p:spPr>
        <p:txBody>
          <a:bodyPr wrap="square" lIns="0" tIns="0" rIns="0" bIns="0" rtlCol="0" anchor="ctr"/>
          <a:lstStyle/>
          <a:p>
            <a:pPr marL="0" indent="0">
              <a:buNone/>
            </a:pPr>
            <a:r>
              <a:rPr lang="en-US" sz="1300" dirty="0">
                <a:solidFill>
                  <a:srgbClr val="CFE6E3"/>
                </a:solidFill>
                <a:latin typeface="Courier New" pitchFamily="34" charset="0"/>
                <a:ea typeface="Courier New" pitchFamily="34" charset="-122"/>
                <a:cs typeface="Courier New" pitchFamily="34" charset="-120"/>
              </a:rPr>
              <a:t>"Write a test for this service."</a:t>
            </a:r>
            <a:endParaRPr lang="en-US" sz="1300" dirty="0"/>
          </a:p>
        </p:txBody>
      </p:sp>
      <p:sp>
        <p:nvSpPr>
          <p:cNvPr id="37" name="Text 30"/>
          <p:cNvSpPr/>
          <p:nvPr/>
        </p:nvSpPr>
        <p:spPr>
          <a:xfrm>
            <a:off x="6720840" y="2743200"/>
            <a:ext cx="4572000" cy="292608"/>
          </a:xfrm>
          <a:prstGeom prst="rect">
            <a:avLst/>
          </a:prstGeom>
          <a:noFill/>
          <a:ln/>
        </p:spPr>
        <p:txBody>
          <a:bodyPr wrap="square" lIns="0" tIns="0" rIns="0" bIns="0" rtlCol="0" anchor="ctr"/>
          <a:lstStyle/>
          <a:p>
            <a:pPr marL="0" indent="0">
              <a:buNone/>
            </a:pPr>
            <a:r>
              <a:rPr lang="en-US" sz="1250" b="1" dirty="0">
                <a:solidFill>
                  <a:srgbClr val="02C39A"/>
                </a:solidFill>
                <a:latin typeface="Calibri" pitchFamily="34" charset="0"/>
                <a:ea typeface="Calibri" pitchFamily="34" charset="-122"/>
                <a:cs typeface="Calibri" pitchFamily="34" charset="-120"/>
              </a:rPr>
              <a:t>Engineered</a:t>
            </a:r>
            <a:endParaRPr lang="en-US" sz="1250" dirty="0"/>
          </a:p>
        </p:txBody>
      </p:sp>
      <p:sp>
        <p:nvSpPr>
          <p:cNvPr id="38" name="Text 31"/>
          <p:cNvSpPr/>
          <p:nvPr/>
        </p:nvSpPr>
        <p:spPr>
          <a:xfrm>
            <a:off x="6720840" y="3063240"/>
            <a:ext cx="4617720" cy="137160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Courier New" pitchFamily="34" charset="0"/>
                <a:ea typeface="Courier New" pitchFamily="34" charset="-122"/>
                <a:cs typeface="Courier New" pitchFamily="34" charset="-120"/>
              </a:rPr>
              <a:t>"Write JUnit 5 tests for OrderService.place(). Mock the repository with Mockito. Cover valid, out-of-stock, and null input. Use AssertJ."</a:t>
            </a:r>
            <a:endParaRPr lang="en-US" sz="1300" dirty="0"/>
          </a:p>
        </p:txBody>
      </p:sp>
      <p:sp>
        <p:nvSpPr>
          <p:cNvPr id="39" name="Shape 32"/>
          <p:cNvSpPr/>
          <p:nvPr/>
        </p:nvSpPr>
        <p:spPr>
          <a:xfrm>
            <a:off x="6720840" y="4572000"/>
            <a:ext cx="4572000" cy="0"/>
          </a:xfrm>
          <a:prstGeom prst="line">
            <a:avLst/>
          </a:prstGeom>
          <a:noFill/>
          <a:ln w="19050">
            <a:solidFill>
              <a:srgbClr val="13403F"/>
            </a:solidFill>
            <a:prstDash val="solid"/>
          </a:ln>
        </p:spPr>
      </p:sp>
      <p:sp>
        <p:nvSpPr>
          <p:cNvPr id="40" name="Text 33"/>
          <p:cNvSpPr/>
          <p:nvPr/>
        </p:nvSpPr>
        <p:spPr>
          <a:xfrm>
            <a:off x="6720840" y="4709160"/>
            <a:ext cx="4617720" cy="1371600"/>
          </a:xfrm>
          <a:prstGeom prst="rect">
            <a:avLst/>
          </a:prstGeom>
          <a:noFill/>
          <a:ln/>
        </p:spPr>
        <p:txBody>
          <a:bodyPr wrap="square" lIns="0" tIns="0" rIns="0" bIns="0" rtlCol="0" anchor="ctr"/>
          <a:lstStyle/>
          <a:p>
            <a:pPr marL="0" indent="0">
              <a:lnSpc>
                <a:spcPct val="130000"/>
              </a:lnSpc>
              <a:buNone/>
            </a:pPr>
            <a:r>
              <a:rPr lang="en-US" sz="1400" dirty="0">
                <a:solidFill>
                  <a:srgbClr val="CFE6E3"/>
                </a:solidFill>
                <a:latin typeface="Calibri" pitchFamily="34" charset="0"/>
                <a:ea typeface="Calibri" pitchFamily="34" charset="-122"/>
                <a:cs typeface="Calibri" pitchFamily="34" charset="-120"/>
              </a:rPr>
              <a:t>Barely longer — just fewer gaps. The second one compiles on the first try; the first triggers four rounds of follow-up (and re-sends the whole chat each round).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2E"/>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03</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FFFFFF"/>
                </a:solidFill>
                <a:latin typeface="Century Schoolbook" pitchFamily="34" charset="0"/>
                <a:ea typeface="Century Schoolbook" pitchFamily="34" charset="-122"/>
                <a:cs typeface="Century Schoolbook" pitchFamily="34" charset="-120"/>
              </a:rPr>
              <a:t>How this lands in our setup</a:t>
            </a:r>
            <a:endParaRPr lang="en-US" sz="2700" dirty="0"/>
          </a:p>
        </p:txBody>
      </p:sp>
      <p:sp>
        <p:nvSpPr>
          <p:cNvPr id="4" name="Text 2"/>
          <p:cNvSpPr/>
          <p:nvPr/>
        </p:nvSpPr>
        <p:spPr>
          <a:xfrm>
            <a:off x="548640" y="1280160"/>
            <a:ext cx="10972800" cy="731520"/>
          </a:xfrm>
          <a:prstGeom prst="rect">
            <a:avLst/>
          </a:prstGeom>
          <a:noFill/>
          <a:ln/>
        </p:spPr>
        <p:txBody>
          <a:bodyPr wrap="square" lIns="0" tIns="0" rIns="0" bIns="0" rtlCol="0" anchor="ctr"/>
          <a:lstStyle/>
          <a:p>
            <a:pPr marL="0" indent="0">
              <a:lnSpc>
                <a:spcPct val="120000"/>
              </a:lnSpc>
              <a:buNone/>
            </a:pPr>
            <a:r>
              <a:rPr lang="en-US" sz="1600" dirty="0">
                <a:solidFill>
                  <a:srgbClr val="CFE6E3"/>
                </a:solidFill>
                <a:latin typeface="Calibri" pitchFamily="34" charset="0"/>
                <a:ea typeface="Calibri" pitchFamily="34" charset="-122"/>
                <a:cs typeface="Calibri" pitchFamily="34" charset="-120"/>
              </a:rPr>
              <a:t>We prompt Copilot inside VS Code — inline completions, chat, and agent edits — running the Claude and GPT models. The craft is the same everywhere; only the surface changes.</a:t>
            </a:r>
            <a:endParaRPr lang="en-US" sz="1600" dirty="0"/>
          </a:p>
        </p:txBody>
      </p:sp>
      <p:sp>
        <p:nvSpPr>
          <p:cNvPr id="5" name="Shape 3"/>
          <p:cNvSpPr/>
          <p:nvPr/>
        </p:nvSpPr>
        <p:spPr>
          <a:xfrm>
            <a:off x="548640" y="2194560"/>
            <a:ext cx="3593592" cy="2788920"/>
          </a:xfrm>
          <a:prstGeom prst="roundRect">
            <a:avLst>
              <a:gd name="adj" fmla="val 2295"/>
            </a:avLst>
          </a:prstGeom>
          <a:solidFill>
            <a:srgbClr val="13403F"/>
          </a:solidFill>
          <a:ln/>
        </p:spPr>
      </p:sp>
      <p:sp>
        <p:nvSpPr>
          <p:cNvPr id="6" name="Shape 4"/>
          <p:cNvSpPr/>
          <p:nvPr/>
        </p:nvSpPr>
        <p:spPr>
          <a:xfrm>
            <a:off x="868680" y="2514600"/>
            <a:ext cx="594360" cy="594360"/>
          </a:xfrm>
          <a:prstGeom prst="ellipse">
            <a:avLst/>
          </a:prstGeom>
          <a:solidFill>
            <a:srgbClr val="028090"/>
          </a:solidFill>
          <a:ln/>
        </p:spPr>
      </p:sp>
      <p:pic>
        <p:nvPicPr>
          <p:cNvPr id="7" name="Image 0" descr="preencoded.png"/>
          <p:cNvPicPr>
            <a:picLocks noChangeAspect="1"/>
          </p:cNvPicPr>
          <p:nvPr/>
        </p:nvPicPr>
        <p:blipFill>
          <a:blip r:embed="rId3"/>
          <a:stretch>
            <a:fillRect/>
          </a:stretch>
        </p:blipFill>
        <p:spPr>
          <a:xfrm>
            <a:off x="1014984" y="2660904"/>
            <a:ext cx="301752" cy="301752"/>
          </a:xfrm>
          <a:prstGeom prst="rect">
            <a:avLst/>
          </a:prstGeom>
        </p:spPr>
      </p:pic>
      <p:sp>
        <p:nvSpPr>
          <p:cNvPr id="8" name="Text 5"/>
          <p:cNvSpPr/>
          <p:nvPr/>
        </p:nvSpPr>
        <p:spPr>
          <a:xfrm>
            <a:off x="868680" y="3246120"/>
            <a:ext cx="301752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Inline completions</a:t>
            </a:r>
            <a:endParaRPr lang="en-US" sz="1600" dirty="0"/>
          </a:p>
        </p:txBody>
      </p:sp>
      <p:sp>
        <p:nvSpPr>
          <p:cNvPr id="9" name="Text 6"/>
          <p:cNvSpPr/>
          <p:nvPr/>
        </p:nvSpPr>
        <p:spPr>
          <a:xfrm>
            <a:off x="868680" y="3703320"/>
            <a:ext cx="3017520" cy="1188720"/>
          </a:xfrm>
          <a:prstGeom prst="rect">
            <a:avLst/>
          </a:prstGeom>
          <a:noFill/>
          <a:ln/>
        </p:spPr>
        <p:txBody>
          <a:bodyPr wrap="square" lIns="0" tIns="0" rIns="0" bIns="0" rtlCol="0" anchor="ctr"/>
          <a:lstStyle/>
          <a:p>
            <a:pPr marL="0" indent="0">
              <a:lnSpc>
                <a:spcPct val="125000"/>
              </a:lnSpc>
              <a:buNone/>
            </a:pPr>
            <a:r>
              <a:rPr lang="en-US" sz="1250" dirty="0">
                <a:solidFill>
                  <a:srgbClr val="CFE6E3"/>
                </a:solidFill>
                <a:latin typeface="Calibri" pitchFamily="34" charset="0"/>
                <a:ea typeface="Calibri" pitchFamily="34" charset="-122"/>
                <a:cs typeface="Calibri" pitchFamily="34" charset="-120"/>
              </a:rPr>
              <a:t>Ghost text as you type. Driven mostly by the code around your cursor and open files — so a clear function name and a comment above it are your 'prompt.'</a:t>
            </a:r>
            <a:endParaRPr lang="en-US" sz="1250" dirty="0"/>
          </a:p>
        </p:txBody>
      </p:sp>
      <p:sp>
        <p:nvSpPr>
          <p:cNvPr id="10" name="Shape 7"/>
          <p:cNvSpPr/>
          <p:nvPr/>
        </p:nvSpPr>
        <p:spPr>
          <a:xfrm>
            <a:off x="4270248" y="2194560"/>
            <a:ext cx="3593592" cy="2788920"/>
          </a:xfrm>
          <a:prstGeom prst="roundRect">
            <a:avLst>
              <a:gd name="adj" fmla="val 2295"/>
            </a:avLst>
          </a:prstGeom>
          <a:solidFill>
            <a:srgbClr val="13403F"/>
          </a:solidFill>
          <a:ln/>
        </p:spPr>
      </p:sp>
      <p:sp>
        <p:nvSpPr>
          <p:cNvPr id="11" name="Shape 8"/>
          <p:cNvSpPr/>
          <p:nvPr/>
        </p:nvSpPr>
        <p:spPr>
          <a:xfrm>
            <a:off x="4590288" y="2514600"/>
            <a:ext cx="594360" cy="59436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736592" y="2660904"/>
            <a:ext cx="301752" cy="301752"/>
          </a:xfrm>
          <a:prstGeom prst="rect">
            <a:avLst/>
          </a:prstGeom>
        </p:spPr>
      </p:pic>
      <p:sp>
        <p:nvSpPr>
          <p:cNvPr id="13" name="Text 9"/>
          <p:cNvSpPr/>
          <p:nvPr/>
        </p:nvSpPr>
        <p:spPr>
          <a:xfrm>
            <a:off x="4590288" y="3246120"/>
            <a:ext cx="301752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Copilot Chat</a:t>
            </a:r>
            <a:endParaRPr lang="en-US" sz="1600" dirty="0"/>
          </a:p>
        </p:txBody>
      </p:sp>
      <p:sp>
        <p:nvSpPr>
          <p:cNvPr id="14" name="Text 10"/>
          <p:cNvSpPr/>
          <p:nvPr/>
        </p:nvSpPr>
        <p:spPr>
          <a:xfrm>
            <a:off x="4590288" y="3703320"/>
            <a:ext cx="3017520" cy="1188720"/>
          </a:xfrm>
          <a:prstGeom prst="rect">
            <a:avLst/>
          </a:prstGeom>
          <a:noFill/>
          <a:ln/>
        </p:spPr>
        <p:txBody>
          <a:bodyPr wrap="square" lIns="0" tIns="0" rIns="0" bIns="0" rtlCol="0" anchor="ctr"/>
          <a:lstStyle/>
          <a:p>
            <a:pPr marL="0" indent="0">
              <a:lnSpc>
                <a:spcPct val="125000"/>
              </a:lnSpc>
              <a:buNone/>
            </a:pPr>
            <a:r>
              <a:rPr lang="en-US" sz="1250" dirty="0">
                <a:solidFill>
                  <a:srgbClr val="CFE6E3"/>
                </a:solidFill>
                <a:latin typeface="Calibri" pitchFamily="34" charset="0"/>
                <a:ea typeface="Calibri" pitchFamily="34" charset="-122"/>
                <a:cs typeface="Calibri" pitchFamily="34" charset="-120"/>
              </a:rPr>
              <a:t>Conversational. Best for explaining, planning, generating a whole unit, or asking questions grounded in the project.</a:t>
            </a:r>
            <a:endParaRPr lang="en-US" sz="1250" dirty="0"/>
          </a:p>
        </p:txBody>
      </p:sp>
      <p:sp>
        <p:nvSpPr>
          <p:cNvPr id="15" name="Shape 11"/>
          <p:cNvSpPr/>
          <p:nvPr/>
        </p:nvSpPr>
        <p:spPr>
          <a:xfrm>
            <a:off x="7991856" y="2194560"/>
            <a:ext cx="3593592" cy="2788920"/>
          </a:xfrm>
          <a:prstGeom prst="roundRect">
            <a:avLst>
              <a:gd name="adj" fmla="val 2295"/>
            </a:avLst>
          </a:prstGeom>
          <a:solidFill>
            <a:srgbClr val="13403F"/>
          </a:solidFill>
          <a:ln/>
        </p:spPr>
      </p:sp>
      <p:sp>
        <p:nvSpPr>
          <p:cNvPr id="16" name="Shape 12"/>
          <p:cNvSpPr/>
          <p:nvPr/>
        </p:nvSpPr>
        <p:spPr>
          <a:xfrm>
            <a:off x="8311896" y="2514600"/>
            <a:ext cx="594360" cy="594360"/>
          </a:xfrm>
          <a:prstGeom prst="ellipse">
            <a:avLst/>
          </a:prstGeom>
          <a:solidFill>
            <a:srgbClr val="028090"/>
          </a:solidFill>
          <a:ln/>
        </p:spPr>
      </p:sp>
      <p:pic>
        <p:nvPicPr>
          <p:cNvPr id="17" name="Image 2" descr="preencoded.png"/>
          <p:cNvPicPr>
            <a:picLocks noChangeAspect="1"/>
          </p:cNvPicPr>
          <p:nvPr/>
        </p:nvPicPr>
        <p:blipFill>
          <a:blip r:embed="rId5"/>
          <a:stretch>
            <a:fillRect/>
          </a:stretch>
        </p:blipFill>
        <p:spPr>
          <a:xfrm>
            <a:off x="8458200" y="2660904"/>
            <a:ext cx="301752" cy="301752"/>
          </a:xfrm>
          <a:prstGeom prst="rect">
            <a:avLst/>
          </a:prstGeom>
        </p:spPr>
      </p:pic>
      <p:sp>
        <p:nvSpPr>
          <p:cNvPr id="18" name="Text 13"/>
          <p:cNvSpPr/>
          <p:nvPr/>
        </p:nvSpPr>
        <p:spPr>
          <a:xfrm>
            <a:off x="8311896" y="3246120"/>
            <a:ext cx="301752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Agent / edits</a:t>
            </a:r>
            <a:endParaRPr lang="en-US" sz="1600" dirty="0"/>
          </a:p>
        </p:txBody>
      </p:sp>
      <p:sp>
        <p:nvSpPr>
          <p:cNvPr id="19" name="Text 14"/>
          <p:cNvSpPr/>
          <p:nvPr/>
        </p:nvSpPr>
        <p:spPr>
          <a:xfrm>
            <a:off x="8311896" y="3703320"/>
            <a:ext cx="3017520" cy="1188720"/>
          </a:xfrm>
          <a:prstGeom prst="rect">
            <a:avLst/>
          </a:prstGeom>
          <a:noFill/>
          <a:ln/>
        </p:spPr>
        <p:txBody>
          <a:bodyPr wrap="square" lIns="0" tIns="0" rIns="0" bIns="0" rtlCol="0" anchor="ctr"/>
          <a:lstStyle/>
          <a:p>
            <a:pPr marL="0" indent="0">
              <a:lnSpc>
                <a:spcPct val="125000"/>
              </a:lnSpc>
              <a:buNone/>
            </a:pPr>
            <a:r>
              <a:rPr lang="en-US" sz="1250" dirty="0">
                <a:solidFill>
                  <a:srgbClr val="CFE6E3"/>
                </a:solidFill>
                <a:latin typeface="Calibri" pitchFamily="34" charset="0"/>
                <a:ea typeface="Calibri" pitchFamily="34" charset="-122"/>
                <a:cs typeface="Calibri" pitchFamily="34" charset="-120"/>
              </a:rPr>
              <a:t>Multi-file changes across the workspace. Rewards a precise, scoped instruction — and punishes a vague one with sprawling diffs.</a:t>
            </a:r>
            <a:endParaRPr lang="en-US" sz="1250" dirty="0"/>
          </a:p>
        </p:txBody>
      </p:sp>
      <p:sp>
        <p:nvSpPr>
          <p:cNvPr id="20" name="Shape 15"/>
          <p:cNvSpPr/>
          <p:nvPr/>
        </p:nvSpPr>
        <p:spPr>
          <a:xfrm>
            <a:off x="548640" y="5212080"/>
            <a:ext cx="11064240" cy="1051560"/>
          </a:xfrm>
          <a:prstGeom prst="roundRect">
            <a:avLst>
              <a:gd name="adj" fmla="val 6087"/>
            </a:avLst>
          </a:prstGeom>
          <a:solidFill>
            <a:srgbClr val="FFFFFF"/>
          </a:solidFill>
          <a:ln/>
          <a:effectLst>
            <a:outerShdw blurRad="88900" dist="38100" dir="5400000" algn="bl" rotWithShape="0">
              <a:srgbClr val="0F2E2E">
                <a:alpha val="13000"/>
              </a:srgbClr>
            </a:outerShdw>
          </a:effectLst>
        </p:spPr>
      </p:sp>
      <p:pic>
        <p:nvPicPr>
          <p:cNvPr id="21" name="Image 3" descr="preencoded.png"/>
          <p:cNvPicPr>
            <a:picLocks noChangeAspect="1"/>
          </p:cNvPicPr>
          <p:nvPr/>
        </p:nvPicPr>
        <p:blipFill>
          <a:blip r:embed="rId6"/>
          <a:stretch>
            <a:fillRect/>
          </a:stretch>
        </p:blipFill>
        <p:spPr>
          <a:xfrm>
            <a:off x="868680" y="5504688"/>
            <a:ext cx="457200" cy="457200"/>
          </a:xfrm>
          <a:prstGeom prst="rect">
            <a:avLst/>
          </a:prstGeom>
        </p:spPr>
      </p:pic>
      <p:sp>
        <p:nvSpPr>
          <p:cNvPr id="22" name="Text 16"/>
          <p:cNvSpPr/>
          <p:nvPr/>
        </p:nvSpPr>
        <p:spPr>
          <a:xfrm>
            <a:off x="1508760" y="5212080"/>
            <a:ext cx="9784080" cy="1051560"/>
          </a:xfrm>
          <a:prstGeom prst="rect">
            <a:avLst/>
          </a:prstGeom>
          <a:noFill/>
          <a:ln/>
        </p:spPr>
        <p:txBody>
          <a:bodyPr wrap="square" lIns="0" tIns="0" rIns="0" bIns="0" rtlCol="0" anchor="ctr"/>
          <a:lstStyle/>
          <a:p>
            <a:pPr marL="0" indent="0">
              <a:lnSpc>
                <a:spcPct val="120000"/>
              </a:lnSpc>
              <a:buNone/>
            </a:pPr>
            <a:r>
              <a:rPr lang="en-US" sz="1450" b="1" dirty="0">
                <a:solidFill>
                  <a:srgbClr val="0F2E2E"/>
                </a:solidFill>
                <a:latin typeface="Calibri" pitchFamily="34" charset="0"/>
                <a:ea typeface="Calibri" pitchFamily="34" charset="-122"/>
                <a:cs typeface="Calibri" pitchFamily="34" charset="-120"/>
              </a:rPr>
              <a:t>On model choice: </a:t>
            </a:r>
            <a:r>
              <a:rPr lang="en-US" sz="1450" dirty="0">
                <a:solidFill>
                  <a:srgbClr val="1E3535"/>
                </a:solidFill>
                <a:latin typeface="Calibri" pitchFamily="34" charset="0"/>
                <a:ea typeface="Calibri" pitchFamily="34" charset="-122"/>
                <a:cs typeface="Calibri" pitchFamily="34" charset="-120"/>
              </a:rPr>
              <a:t>both Claude and GPT are strong coders — flip between them when one gets stuck or you want a second take, rather than memorizing a rulebook. The prompt matters far more than the model.</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04</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In practice: Quarkus</a:t>
            </a:r>
            <a:endParaRPr lang="en-US" sz="2700" dirty="0"/>
          </a:p>
        </p:txBody>
      </p:sp>
      <p:pic>
        <p:nvPicPr>
          <p:cNvPr id="4" name="Image 0" descr="preencoded.png"/>
          <p:cNvPicPr>
            <a:picLocks noChangeAspect="1"/>
          </p:cNvPicPr>
          <p:nvPr/>
        </p:nvPicPr>
        <p:blipFill>
          <a:blip r:embed="rId3"/>
          <a:stretch>
            <a:fillRect/>
          </a:stretch>
        </p:blipFill>
        <p:spPr>
          <a:xfrm>
            <a:off x="10881360" y="457200"/>
            <a:ext cx="548640" cy="548640"/>
          </a:xfrm>
          <a:prstGeom prst="rect">
            <a:avLst/>
          </a:prstGeom>
        </p:spPr>
      </p:pic>
      <p:sp>
        <p:nvSpPr>
          <p:cNvPr id="5" name="Shape 2"/>
          <p:cNvSpPr/>
          <p:nvPr/>
        </p:nvSpPr>
        <p:spPr>
          <a:xfrm>
            <a:off x="548640" y="12344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6" name="Text 3"/>
          <p:cNvSpPr/>
          <p:nvPr/>
        </p:nvSpPr>
        <p:spPr>
          <a:xfrm>
            <a:off x="822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7" name="Text 4"/>
          <p:cNvSpPr/>
          <p:nvPr/>
        </p:nvSpPr>
        <p:spPr>
          <a:xfrm>
            <a:off x="1737360" y="13990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generate an endpoint</a:t>
            </a:r>
            <a:endParaRPr lang="en-US" sz="1150" dirty="0"/>
          </a:p>
        </p:txBody>
      </p:sp>
      <p:sp>
        <p:nvSpPr>
          <p:cNvPr id="8" name="Text 5"/>
          <p:cNvSpPr/>
          <p:nvPr/>
        </p:nvSpPr>
        <p:spPr>
          <a:xfrm>
            <a:off x="822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"make a REST endpoint for orders"</a:t>
            </a:r>
            <a:endParaRPr lang="en-US" sz="1150" dirty="0"/>
          </a:p>
        </p:txBody>
      </p:sp>
      <p:sp>
        <p:nvSpPr>
          <p:cNvPr id="9" name="Shape 6"/>
          <p:cNvSpPr/>
          <p:nvPr/>
        </p:nvSpPr>
        <p:spPr>
          <a:xfrm>
            <a:off x="6263640" y="12344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0" name="Text 7"/>
          <p:cNvSpPr/>
          <p:nvPr/>
        </p:nvSpPr>
        <p:spPr>
          <a:xfrm>
            <a:off x="6537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1" name="Text 8"/>
          <p:cNvSpPr/>
          <p:nvPr/>
        </p:nvSpPr>
        <p:spPr>
          <a:xfrm>
            <a:off x="7635240" y="13990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names the framework surface</a:t>
            </a:r>
            <a:endParaRPr lang="en-US" sz="1150" dirty="0"/>
          </a:p>
        </p:txBody>
      </p:sp>
      <p:sp>
        <p:nvSpPr>
          <p:cNvPr id="12" name="Text 9"/>
          <p:cNvSpPr/>
          <p:nvPr/>
        </p:nvSpPr>
        <p:spPr>
          <a:xfrm>
            <a:off x="6537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"Add a JAX-RS resource OrderResource with a POST /orders that takes CreateOrderDto, calls OrderService, and returns 201 with the created order. Use constructor injection."</a:t>
            </a:r>
            <a:endParaRPr lang="en-US" sz="1150" dirty="0"/>
          </a:p>
        </p:txBody>
      </p:sp>
      <p:sp>
        <p:nvSpPr>
          <p:cNvPr id="13" name="Shape 10"/>
          <p:cNvSpPr/>
          <p:nvPr/>
        </p:nvSpPr>
        <p:spPr>
          <a:xfrm>
            <a:off x="548640" y="37490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14" name="Text 11"/>
          <p:cNvSpPr/>
          <p:nvPr/>
        </p:nvSpPr>
        <p:spPr>
          <a:xfrm>
            <a:off x="822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15" name="Text 12"/>
          <p:cNvSpPr/>
          <p:nvPr/>
        </p:nvSpPr>
        <p:spPr>
          <a:xfrm>
            <a:off x="1737360" y="39136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a Panache repository</a:t>
            </a:r>
            <a:endParaRPr lang="en-US" sz="1150" dirty="0"/>
          </a:p>
        </p:txBody>
      </p:sp>
      <p:sp>
        <p:nvSpPr>
          <p:cNvPr id="16" name="Text 13"/>
          <p:cNvSpPr/>
          <p:nvPr/>
        </p:nvSpPr>
        <p:spPr>
          <a:xfrm>
            <a:off x="822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"write a repository for Order"</a:t>
            </a:r>
            <a:endParaRPr lang="en-US" sz="1150" dirty="0"/>
          </a:p>
        </p:txBody>
      </p:sp>
      <p:sp>
        <p:nvSpPr>
          <p:cNvPr id="17" name="Shape 14"/>
          <p:cNvSpPr/>
          <p:nvPr/>
        </p:nvSpPr>
        <p:spPr>
          <a:xfrm>
            <a:off x="6263640" y="37490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8" name="Text 15"/>
          <p:cNvSpPr/>
          <p:nvPr/>
        </p:nvSpPr>
        <p:spPr>
          <a:xfrm>
            <a:off x="6537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9" name="Text 16"/>
          <p:cNvSpPr/>
          <p:nvPr/>
        </p:nvSpPr>
        <p:spPr>
          <a:xfrm>
            <a:off x="7635240" y="39136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pins the pattern + reactive choice</a:t>
            </a:r>
            <a:endParaRPr lang="en-US" sz="1150" dirty="0"/>
          </a:p>
        </p:txBody>
      </p:sp>
      <p:sp>
        <p:nvSpPr>
          <p:cNvPr id="20" name="Text 17"/>
          <p:cNvSpPr/>
          <p:nvPr/>
        </p:nvSpPr>
        <p:spPr>
          <a:xfrm>
            <a:off x="6537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"Create an OrderRepository using Panache (PanacheRepository&lt;Order&gt;). Add findByStatus(OrderStatus) and a paged findRecent(int page). Follow the repository pattern already used in CustomerRepository."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05</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In practice: Lit (LitElement)</a:t>
            </a:r>
            <a:endParaRPr lang="en-US" sz="2700" dirty="0"/>
          </a:p>
        </p:txBody>
      </p:sp>
      <p:pic>
        <p:nvPicPr>
          <p:cNvPr id="4" name="Image 0" descr="preencoded.png"/>
          <p:cNvPicPr>
            <a:picLocks noChangeAspect="1"/>
          </p:cNvPicPr>
          <p:nvPr/>
        </p:nvPicPr>
        <p:blipFill>
          <a:blip r:embed="rId3"/>
          <a:stretch>
            <a:fillRect/>
          </a:stretch>
        </p:blipFill>
        <p:spPr>
          <a:xfrm>
            <a:off x="10881360" y="457200"/>
            <a:ext cx="548640" cy="548640"/>
          </a:xfrm>
          <a:prstGeom prst="rect">
            <a:avLst/>
          </a:prstGeom>
        </p:spPr>
      </p:pic>
      <p:sp>
        <p:nvSpPr>
          <p:cNvPr id="5" name="Shape 2"/>
          <p:cNvSpPr/>
          <p:nvPr/>
        </p:nvSpPr>
        <p:spPr>
          <a:xfrm>
            <a:off x="548640" y="12344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6" name="Text 3"/>
          <p:cNvSpPr/>
          <p:nvPr/>
        </p:nvSpPr>
        <p:spPr>
          <a:xfrm>
            <a:off x="822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7" name="Text 4"/>
          <p:cNvSpPr/>
          <p:nvPr/>
        </p:nvSpPr>
        <p:spPr>
          <a:xfrm>
            <a:off x="1737360" y="13990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a new component</a:t>
            </a:r>
            <a:endParaRPr lang="en-US" sz="1150" dirty="0"/>
          </a:p>
        </p:txBody>
      </p:sp>
      <p:sp>
        <p:nvSpPr>
          <p:cNvPr id="8" name="Text 5"/>
          <p:cNvSpPr/>
          <p:nvPr/>
        </p:nvSpPr>
        <p:spPr>
          <a:xfrm>
            <a:off x="822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"make a lit component for a user card"</a:t>
            </a:r>
            <a:endParaRPr lang="en-US" sz="1150" dirty="0"/>
          </a:p>
        </p:txBody>
      </p:sp>
      <p:sp>
        <p:nvSpPr>
          <p:cNvPr id="9" name="Shape 6"/>
          <p:cNvSpPr/>
          <p:nvPr/>
        </p:nvSpPr>
        <p:spPr>
          <a:xfrm>
            <a:off x="6263640" y="12344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0" name="Text 7"/>
          <p:cNvSpPr/>
          <p:nvPr/>
        </p:nvSpPr>
        <p:spPr>
          <a:xfrm>
            <a:off x="6537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1" name="Text 8"/>
          <p:cNvSpPr/>
          <p:nvPr/>
        </p:nvSpPr>
        <p:spPr>
          <a:xfrm>
            <a:off x="7635240" y="13990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declares reactivity + API surface</a:t>
            </a:r>
            <a:endParaRPr lang="en-US" sz="1150" dirty="0"/>
          </a:p>
        </p:txBody>
      </p:sp>
      <p:sp>
        <p:nvSpPr>
          <p:cNvPr id="12" name="Text 9"/>
          <p:cNvSpPr/>
          <p:nvPr/>
        </p:nvSpPr>
        <p:spPr>
          <a:xfrm>
            <a:off x="6537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"Create a LitElement &lt;user-card&gt; with reactive properties name:String and active:Boolean. Render a card; when active is false, add a 'muted' class. Use the @property decorator and static styles with css``."</a:t>
            </a:r>
            <a:endParaRPr lang="en-US" sz="1150" dirty="0"/>
          </a:p>
        </p:txBody>
      </p:sp>
      <p:sp>
        <p:nvSpPr>
          <p:cNvPr id="13" name="Shape 10"/>
          <p:cNvSpPr/>
          <p:nvPr/>
        </p:nvSpPr>
        <p:spPr>
          <a:xfrm>
            <a:off x="548640" y="37490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14" name="Text 11"/>
          <p:cNvSpPr/>
          <p:nvPr/>
        </p:nvSpPr>
        <p:spPr>
          <a:xfrm>
            <a:off x="822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15" name="Text 12"/>
          <p:cNvSpPr/>
          <p:nvPr/>
        </p:nvSpPr>
        <p:spPr>
          <a:xfrm>
            <a:off x="1737360" y="39136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an event + state update</a:t>
            </a:r>
            <a:endParaRPr lang="en-US" sz="1150" dirty="0"/>
          </a:p>
        </p:txBody>
      </p:sp>
      <p:sp>
        <p:nvSpPr>
          <p:cNvPr id="16" name="Text 13"/>
          <p:cNvSpPr/>
          <p:nvPr/>
        </p:nvSpPr>
        <p:spPr>
          <a:xfrm>
            <a:off x="822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"add a click handler that updates it"</a:t>
            </a:r>
            <a:endParaRPr lang="en-US" sz="1150" dirty="0"/>
          </a:p>
        </p:txBody>
      </p:sp>
      <p:sp>
        <p:nvSpPr>
          <p:cNvPr id="17" name="Shape 14"/>
          <p:cNvSpPr/>
          <p:nvPr/>
        </p:nvSpPr>
        <p:spPr>
          <a:xfrm>
            <a:off x="6263640" y="37490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8" name="Text 15"/>
          <p:cNvSpPr/>
          <p:nvPr/>
        </p:nvSpPr>
        <p:spPr>
          <a:xfrm>
            <a:off x="6537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9" name="Text 16"/>
          <p:cNvSpPr/>
          <p:nvPr/>
        </p:nvSpPr>
        <p:spPr>
          <a:xfrm>
            <a:off x="7635240" y="39136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specifies the Lit idiom</a:t>
            </a:r>
            <a:endParaRPr lang="en-US" sz="1150" dirty="0"/>
          </a:p>
        </p:txBody>
      </p:sp>
      <p:sp>
        <p:nvSpPr>
          <p:cNvPr id="20" name="Text 17"/>
          <p:cNvSpPr/>
          <p:nvPr/>
        </p:nvSpPr>
        <p:spPr>
          <a:xfrm>
            <a:off x="6537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"Add a button that dispatches a custom event 'toggle' and updates a reactive @state() _open. Bind with @click and re-render via the reactive property — don't manually touch the DOM."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06</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In practice: PL/SQL</a:t>
            </a:r>
            <a:endParaRPr lang="en-US" sz="2700" dirty="0"/>
          </a:p>
        </p:txBody>
      </p:sp>
      <p:pic>
        <p:nvPicPr>
          <p:cNvPr id="4" name="Image 0" descr="preencoded.png"/>
          <p:cNvPicPr>
            <a:picLocks noChangeAspect="1"/>
          </p:cNvPicPr>
          <p:nvPr/>
        </p:nvPicPr>
        <p:blipFill>
          <a:blip r:embed="rId3"/>
          <a:stretch>
            <a:fillRect/>
          </a:stretch>
        </p:blipFill>
        <p:spPr>
          <a:xfrm>
            <a:off x="10881360" y="457200"/>
            <a:ext cx="548640" cy="548640"/>
          </a:xfrm>
          <a:prstGeom prst="rect">
            <a:avLst/>
          </a:prstGeom>
        </p:spPr>
      </p:pic>
      <p:sp>
        <p:nvSpPr>
          <p:cNvPr id="5" name="Shape 2"/>
          <p:cNvSpPr/>
          <p:nvPr/>
        </p:nvSpPr>
        <p:spPr>
          <a:xfrm>
            <a:off x="548640" y="12344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6" name="Text 3"/>
          <p:cNvSpPr/>
          <p:nvPr/>
        </p:nvSpPr>
        <p:spPr>
          <a:xfrm>
            <a:off x="822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7" name="Text 4"/>
          <p:cNvSpPr/>
          <p:nvPr/>
        </p:nvSpPr>
        <p:spPr>
          <a:xfrm>
            <a:off x="1737360" y="13990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a package procedure</a:t>
            </a:r>
            <a:endParaRPr lang="en-US" sz="1150" dirty="0"/>
          </a:p>
        </p:txBody>
      </p:sp>
      <p:sp>
        <p:nvSpPr>
          <p:cNvPr id="8" name="Text 5"/>
          <p:cNvSpPr/>
          <p:nvPr/>
        </p:nvSpPr>
        <p:spPr>
          <a:xfrm>
            <a:off x="822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"write a procedure to update order status"</a:t>
            </a:r>
            <a:endParaRPr lang="en-US" sz="1150" dirty="0"/>
          </a:p>
        </p:txBody>
      </p:sp>
      <p:sp>
        <p:nvSpPr>
          <p:cNvPr id="9" name="Shape 6"/>
          <p:cNvSpPr/>
          <p:nvPr/>
        </p:nvSpPr>
        <p:spPr>
          <a:xfrm>
            <a:off x="6263640" y="12344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0" name="Text 7"/>
          <p:cNvSpPr/>
          <p:nvPr/>
        </p:nvSpPr>
        <p:spPr>
          <a:xfrm>
            <a:off x="6537960" y="14173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1" name="Text 8"/>
          <p:cNvSpPr/>
          <p:nvPr/>
        </p:nvSpPr>
        <p:spPr>
          <a:xfrm>
            <a:off x="7635240" y="13990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gives schema + error contract</a:t>
            </a:r>
            <a:endParaRPr lang="en-US" sz="1150" dirty="0"/>
          </a:p>
        </p:txBody>
      </p:sp>
      <p:sp>
        <p:nvSpPr>
          <p:cNvPr id="12" name="Text 9"/>
          <p:cNvSpPr/>
          <p:nvPr/>
        </p:nvSpPr>
        <p:spPr>
          <a:xfrm>
            <a:off x="6537960" y="17830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"In package ORDER_PKG, write UPDATE_STATUS(p_order_id IN NUMBER, p_status IN VARCHAR2). Update ORDERS.STATUS, raise -20001 if no row matched, commit nothing (caller controls the transaction)."</a:t>
            </a:r>
            <a:endParaRPr lang="en-US" sz="1150" dirty="0"/>
          </a:p>
        </p:txBody>
      </p:sp>
      <p:sp>
        <p:nvSpPr>
          <p:cNvPr id="13" name="Shape 10"/>
          <p:cNvSpPr/>
          <p:nvPr/>
        </p:nvSpPr>
        <p:spPr>
          <a:xfrm>
            <a:off x="548640" y="3749040"/>
            <a:ext cx="5349240" cy="2240280"/>
          </a:xfrm>
          <a:prstGeom prst="roundRect">
            <a:avLst>
              <a:gd name="adj" fmla="val 2857"/>
            </a:avLst>
          </a:prstGeom>
          <a:solidFill>
            <a:srgbClr val="FFFFFF"/>
          </a:solidFill>
          <a:ln/>
          <a:effectLst>
            <a:outerShdw blurRad="88900" dist="38100" dir="5400000" algn="bl" rotWithShape="0">
              <a:srgbClr val="0F2E2E">
                <a:alpha val="13000"/>
              </a:srgbClr>
            </a:outerShdw>
          </a:effectLst>
        </p:spPr>
      </p:sp>
      <p:sp>
        <p:nvSpPr>
          <p:cNvPr id="14" name="Text 11"/>
          <p:cNvSpPr/>
          <p:nvPr/>
        </p:nvSpPr>
        <p:spPr>
          <a:xfrm>
            <a:off x="822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B84A2E"/>
                </a:solidFill>
                <a:latin typeface="Calibri" pitchFamily="34" charset="0"/>
                <a:ea typeface="Calibri" pitchFamily="34" charset="-122"/>
                <a:cs typeface="Calibri" pitchFamily="34" charset="-120"/>
              </a:rPr>
              <a:t>WEAK</a:t>
            </a:r>
            <a:endParaRPr lang="en-US" sz="1100" dirty="0"/>
          </a:p>
        </p:txBody>
      </p:sp>
      <p:sp>
        <p:nvSpPr>
          <p:cNvPr id="15" name="Text 12"/>
          <p:cNvSpPr/>
          <p:nvPr/>
        </p:nvSpPr>
        <p:spPr>
          <a:xfrm>
            <a:off x="1737360" y="3913632"/>
            <a:ext cx="3931920" cy="292608"/>
          </a:xfrm>
          <a:prstGeom prst="rect">
            <a:avLst/>
          </a:prstGeom>
          <a:noFill/>
          <a:ln/>
        </p:spPr>
        <p:txBody>
          <a:bodyPr wrap="square" lIns="0" tIns="0" rIns="0" bIns="0" rtlCol="0" anchor="ctr"/>
          <a:lstStyle/>
          <a:p>
            <a:pPr marL="0" indent="0">
              <a:buNone/>
            </a:pPr>
            <a:r>
              <a:rPr lang="en-US" sz="1150" i="1" dirty="0">
                <a:solidFill>
                  <a:srgbClr val="5B7373"/>
                </a:solidFill>
                <a:latin typeface="Calibri" pitchFamily="34" charset="0"/>
                <a:ea typeface="Calibri" pitchFamily="34" charset="-122"/>
                <a:cs typeface="Calibri" pitchFamily="34" charset="-120"/>
              </a:rPr>
              <a:t>a set-based rewrite</a:t>
            </a:r>
            <a:endParaRPr lang="en-US" sz="1150" dirty="0"/>
          </a:p>
        </p:txBody>
      </p:sp>
      <p:sp>
        <p:nvSpPr>
          <p:cNvPr id="16" name="Text 13"/>
          <p:cNvSpPr/>
          <p:nvPr/>
        </p:nvSpPr>
        <p:spPr>
          <a:xfrm>
            <a:off x="822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1E3535"/>
                </a:solidFill>
                <a:latin typeface="Courier New" pitchFamily="34" charset="0"/>
                <a:ea typeface="Courier New" pitchFamily="34" charset="-122"/>
                <a:cs typeface="Courier New" pitchFamily="34" charset="-120"/>
              </a:rPr>
              <a:t>"make this cursor loop faster"</a:t>
            </a:r>
            <a:endParaRPr lang="en-US" sz="1150" dirty="0"/>
          </a:p>
        </p:txBody>
      </p:sp>
      <p:sp>
        <p:nvSpPr>
          <p:cNvPr id="17" name="Shape 14"/>
          <p:cNvSpPr/>
          <p:nvPr/>
        </p:nvSpPr>
        <p:spPr>
          <a:xfrm>
            <a:off x="6263640" y="3749040"/>
            <a:ext cx="5349240" cy="2240280"/>
          </a:xfrm>
          <a:prstGeom prst="roundRect">
            <a:avLst>
              <a:gd name="adj" fmla="val 2857"/>
            </a:avLst>
          </a:prstGeom>
          <a:solidFill>
            <a:srgbClr val="0F2E2E"/>
          </a:solidFill>
          <a:ln/>
          <a:effectLst>
            <a:outerShdw blurRad="88900" dist="38100" dir="5400000" algn="bl" rotWithShape="0">
              <a:srgbClr val="0F2E2E">
                <a:alpha val="13000"/>
              </a:srgbClr>
            </a:outerShdw>
          </a:effectLst>
        </p:spPr>
      </p:sp>
      <p:sp>
        <p:nvSpPr>
          <p:cNvPr id="18" name="Text 15"/>
          <p:cNvSpPr/>
          <p:nvPr/>
        </p:nvSpPr>
        <p:spPr>
          <a:xfrm>
            <a:off x="6537960" y="3931920"/>
            <a:ext cx="2743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STRONG</a:t>
            </a:r>
            <a:endParaRPr lang="en-US" sz="1100" dirty="0"/>
          </a:p>
        </p:txBody>
      </p:sp>
      <p:sp>
        <p:nvSpPr>
          <p:cNvPr id="19" name="Text 16"/>
          <p:cNvSpPr/>
          <p:nvPr/>
        </p:nvSpPr>
        <p:spPr>
          <a:xfrm>
            <a:off x="7635240" y="3913632"/>
            <a:ext cx="3840480" cy="292608"/>
          </a:xfrm>
          <a:prstGeom prst="rect">
            <a:avLst/>
          </a:prstGeom>
          <a:noFill/>
          <a:ln/>
        </p:spPr>
        <p:txBody>
          <a:bodyPr wrap="square" lIns="0" tIns="0" rIns="0" bIns="0" rtlCol="0" anchor="ctr"/>
          <a:lstStyle/>
          <a:p>
            <a:pPr marL="0" indent="0">
              <a:buNone/>
            </a:pPr>
            <a:r>
              <a:rPr lang="en-US" sz="1150" i="1" dirty="0">
                <a:solidFill>
                  <a:srgbClr val="8FB6B2"/>
                </a:solidFill>
                <a:latin typeface="Calibri" pitchFamily="34" charset="0"/>
                <a:ea typeface="Calibri" pitchFamily="34" charset="-122"/>
                <a:cs typeface="Calibri" pitchFamily="34" charset="-120"/>
              </a:rPr>
              <a:t>names the technique + target</a:t>
            </a:r>
            <a:endParaRPr lang="en-US" sz="1150" dirty="0"/>
          </a:p>
        </p:txBody>
      </p:sp>
      <p:sp>
        <p:nvSpPr>
          <p:cNvPr id="20" name="Text 17"/>
          <p:cNvSpPr/>
          <p:nvPr/>
        </p:nvSpPr>
        <p:spPr>
          <a:xfrm>
            <a:off x="6537960" y="4297680"/>
            <a:ext cx="4846320" cy="1554480"/>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Courier New" pitchFamily="34" charset="0"/>
                <a:ea typeface="Courier New" pitchFamily="34" charset="-122"/>
                <a:cs typeface="Courier New" pitchFamily="34" charset="-120"/>
              </a:rPr>
              <a:t>"Rewrite this row-by-row cursor loop as a single set-based UPDATE, or use BULK COLLECT with FORALL if per-row logic is needed. Keep behavior identical; flag any change in commit semantics."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E2E"/>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07</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FFFFFF"/>
                </a:solidFill>
                <a:latin typeface="Century Schoolbook" pitchFamily="34" charset="0"/>
                <a:ea typeface="Century Schoolbook" pitchFamily="34" charset="-122"/>
                <a:cs typeface="Century Schoolbook" pitchFamily="34" charset="-120"/>
              </a:rPr>
              <a:t>How Copilot already understands our project</a:t>
            </a:r>
            <a:endParaRPr lang="en-US" sz="2700" dirty="0"/>
          </a:p>
        </p:txBody>
      </p:sp>
      <p:sp>
        <p:nvSpPr>
          <p:cNvPr id="4" name="Text 2"/>
          <p:cNvSpPr/>
          <p:nvPr/>
        </p:nvSpPr>
        <p:spPr>
          <a:xfrm>
            <a:off x="548640" y="1280160"/>
            <a:ext cx="10972800" cy="731520"/>
          </a:xfrm>
          <a:prstGeom prst="rect">
            <a:avLst/>
          </a:prstGeom>
          <a:noFill/>
          <a:ln/>
        </p:spPr>
        <p:txBody>
          <a:bodyPr wrap="square" lIns="0" tIns="0" rIns="0" bIns="0" rtlCol="0" anchor="ctr"/>
          <a:lstStyle/>
          <a:p>
            <a:pPr marL="0" indent="0">
              <a:lnSpc>
                <a:spcPct val="120000"/>
              </a:lnSpc>
              <a:buNone/>
            </a:pPr>
            <a:r>
              <a:rPr lang="en-US" sz="1600" dirty="0">
                <a:solidFill>
                  <a:srgbClr val="CFE6E3"/>
                </a:solidFill>
                <a:latin typeface="Calibri" pitchFamily="34" charset="0"/>
                <a:ea typeface="Calibri" pitchFamily="34" charset="-122"/>
                <a:cs typeface="Calibri" pitchFamily="34" charset="-120"/>
              </a:rPr>
              <a:t>Copilot builds a semantic index of the workspace automatically — folder structure, cross-file references, function signatures, class names — with no setup from you. Your job is to work with that grain.</a:t>
            </a:r>
            <a:endParaRPr lang="en-US" sz="1600" dirty="0"/>
          </a:p>
        </p:txBody>
      </p:sp>
      <p:sp>
        <p:nvSpPr>
          <p:cNvPr id="5" name="Shape 3"/>
          <p:cNvSpPr/>
          <p:nvPr/>
        </p:nvSpPr>
        <p:spPr>
          <a:xfrm>
            <a:off x="548640" y="2148840"/>
            <a:ext cx="5440680" cy="4114800"/>
          </a:xfrm>
          <a:prstGeom prst="roundRect">
            <a:avLst>
              <a:gd name="adj" fmla="val 1778"/>
            </a:avLst>
          </a:prstGeom>
          <a:solidFill>
            <a:srgbClr val="13403F"/>
          </a:solidFill>
          <a:ln/>
        </p:spPr>
      </p:sp>
      <p:pic>
        <p:nvPicPr>
          <p:cNvPr id="6" name="Image 0" descr="preencoded.png"/>
          <p:cNvPicPr>
            <a:picLocks noChangeAspect="1"/>
          </p:cNvPicPr>
          <p:nvPr/>
        </p:nvPicPr>
        <p:blipFill>
          <a:blip r:embed="rId3"/>
          <a:stretch>
            <a:fillRect/>
          </a:stretch>
        </p:blipFill>
        <p:spPr>
          <a:xfrm>
            <a:off x="868680" y="2423160"/>
            <a:ext cx="457200" cy="457200"/>
          </a:xfrm>
          <a:prstGeom prst="rect">
            <a:avLst/>
          </a:prstGeom>
        </p:spPr>
      </p:pic>
      <p:sp>
        <p:nvSpPr>
          <p:cNvPr id="7" name="Text 4"/>
          <p:cNvSpPr/>
          <p:nvPr/>
        </p:nvSpPr>
        <p:spPr>
          <a:xfrm>
            <a:off x="1463040" y="2423160"/>
            <a:ext cx="429768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What it sees on its own</a:t>
            </a:r>
            <a:endParaRPr lang="en-US" sz="1700" dirty="0"/>
          </a:p>
        </p:txBody>
      </p:sp>
      <p:sp>
        <p:nvSpPr>
          <p:cNvPr id="8" name="Text 5"/>
          <p:cNvSpPr/>
          <p:nvPr/>
        </p:nvSpPr>
        <p:spPr>
          <a:xfrm>
            <a:off x="868680" y="3063240"/>
            <a:ext cx="4892040" cy="3017520"/>
          </a:xfrm>
          <a:prstGeom prst="rect">
            <a:avLst/>
          </a:prstGeom>
          <a:noFill/>
          <a:ln/>
        </p:spPr>
        <p:txBody>
          <a:bodyPr wrap="square" lIns="0" tIns="0" rIns="0" bIns="0" rtlCol="0" anchor="ctr"/>
          <a:lstStyle/>
          <a:p>
            <a:pPr marL="0" indent="0">
              <a:lnSpc>
                <a:spcPct val="125000"/>
              </a:lnSpc>
              <a:spcAft>
                <a:spcPts val="800"/>
              </a:spcAft>
              <a:buNone/>
            </a:pPr>
            <a:r>
              <a:rPr lang="en-US" sz="1350" b="1" dirty="0">
                <a:solidFill>
                  <a:srgbClr val="FFFFFF"/>
                </a:solidFill>
                <a:latin typeface="Calibri" pitchFamily="34" charset="0"/>
                <a:ea typeface="Calibri" pitchFamily="34" charset="-122"/>
                <a:cs typeface="Calibri" pitchFamily="34" charset="-120"/>
              </a:rPr>
              <a:t>Open files &amp; live edits — </a:t>
            </a:r>
            <a:r>
              <a:rPr lang="en-US" sz="1350" dirty="0">
                <a:solidFill>
                  <a:srgbClr val="CFE6E3"/>
                </a:solidFill>
                <a:latin typeface="Calibri" pitchFamily="34" charset="0"/>
                <a:ea typeface="Calibri" pitchFamily="34" charset="-122"/>
                <a:cs typeface="Calibri" pitchFamily="34" charset="-120"/>
              </a:rPr>
              <a:t>re-read as you type and switch tabs.</a:t>
            </a:r>
            <a:endParaRPr lang="en-US" sz="1350" dirty="0"/>
          </a:p>
          <a:p>
            <a:pPr marL="0" indent="0">
              <a:lnSpc>
                <a:spcPct val="125000"/>
              </a:lnSpc>
              <a:spcAft>
                <a:spcPts val="800"/>
              </a:spcAft>
              <a:buNone/>
            </a:pPr>
            <a:r>
              <a:rPr lang="en-US" sz="1350" b="1" dirty="0">
                <a:solidFill>
                  <a:srgbClr val="FFFFFF"/>
                </a:solidFill>
                <a:latin typeface="Calibri" pitchFamily="34" charset="0"/>
                <a:ea typeface="Calibri" pitchFamily="34" charset="-122"/>
                <a:cs typeface="Calibri" pitchFamily="34" charset="-120"/>
              </a:rPr>
              <a:t>Imports &amp; symbols — </a:t>
            </a:r>
            <a:r>
              <a:rPr lang="en-US" sz="1350" dirty="0">
                <a:solidFill>
                  <a:srgbClr val="CFE6E3"/>
                </a:solidFill>
                <a:latin typeface="Calibri" pitchFamily="34" charset="0"/>
                <a:ea typeface="Calibri" pitchFamily="34" charset="-122"/>
                <a:cs typeface="Calibri" pitchFamily="34" charset="-120"/>
              </a:rPr>
              <a:t>follows a call to code defined elsewhere and matches its signature.</a:t>
            </a:r>
            <a:endParaRPr lang="en-US" sz="1350" dirty="0"/>
          </a:p>
          <a:p>
            <a:pPr marL="0" indent="0">
              <a:lnSpc>
                <a:spcPct val="125000"/>
              </a:lnSpc>
              <a:spcAft>
                <a:spcPts val="800"/>
              </a:spcAft>
              <a:buNone/>
            </a:pPr>
            <a:r>
              <a:rPr lang="en-US" sz="1350" b="1" dirty="0">
                <a:solidFill>
                  <a:srgbClr val="FFFFFF"/>
                </a:solidFill>
                <a:latin typeface="Calibri" pitchFamily="34" charset="0"/>
                <a:ea typeface="Calibri" pitchFamily="34" charset="-122"/>
                <a:cs typeface="Calibri" pitchFamily="34" charset="-120"/>
              </a:rPr>
              <a:t>The whole repo, semantically — </a:t>
            </a:r>
            <a:r>
              <a:rPr lang="en-US" sz="1350" dirty="0">
                <a:solidFill>
                  <a:srgbClr val="CFE6E3"/>
                </a:solidFill>
                <a:latin typeface="Calibri" pitchFamily="34" charset="0"/>
                <a:ea typeface="Calibri" pitchFamily="34" charset="-122"/>
                <a:cs typeface="Calibri" pitchFamily="34" charset="-120"/>
              </a:rPr>
              <a:t>searches by meaning, not just keywords. On GitHub the index is remote and shared across the team per repo.</a:t>
            </a:r>
            <a:endParaRPr lang="en-US" sz="1350" dirty="0"/>
          </a:p>
          <a:p>
            <a:pPr marL="0" indent="0">
              <a:lnSpc>
                <a:spcPct val="125000"/>
              </a:lnSpc>
              <a:spcAft>
                <a:spcPts val="800"/>
              </a:spcAft>
              <a:buNone/>
            </a:pPr>
            <a:r>
              <a:rPr lang="en-US" sz="1350" b="1" dirty="0">
                <a:solidFill>
                  <a:srgbClr val="FFFFFF"/>
                </a:solidFill>
                <a:latin typeface="Calibri" pitchFamily="34" charset="0"/>
                <a:ea typeface="Calibri" pitchFamily="34" charset="-122"/>
                <a:cs typeface="Calibri" pitchFamily="34" charset="-120"/>
              </a:rPr>
              <a:t>Not binaries — </a:t>
            </a:r>
            <a:r>
              <a:rPr lang="en-US" sz="1350" dirty="0">
                <a:solidFill>
                  <a:srgbClr val="CFE6E3"/>
                </a:solidFill>
                <a:latin typeface="Calibri" pitchFamily="34" charset="0"/>
                <a:ea typeface="Calibri" pitchFamily="34" charset="-122"/>
                <a:cs typeface="Calibri" pitchFamily="34" charset="-120"/>
              </a:rPr>
              <a:t>images and PDFs aren't indexed.</a:t>
            </a:r>
            <a:endParaRPr lang="en-US" sz="1350" dirty="0"/>
          </a:p>
        </p:txBody>
      </p:sp>
      <p:sp>
        <p:nvSpPr>
          <p:cNvPr id="9" name="Shape 6"/>
          <p:cNvSpPr/>
          <p:nvPr/>
        </p:nvSpPr>
        <p:spPr>
          <a:xfrm>
            <a:off x="6172200" y="2148840"/>
            <a:ext cx="5440680" cy="4114800"/>
          </a:xfrm>
          <a:prstGeom prst="roundRect">
            <a:avLst>
              <a:gd name="adj" fmla="val 1778"/>
            </a:avLst>
          </a:prstGeom>
          <a:solidFill>
            <a:srgbClr val="FFFFFF"/>
          </a:solidFill>
          <a:ln/>
          <a:effectLst>
            <a:outerShdw blurRad="88900" dist="38100" dir="5400000" algn="bl" rotWithShape="0">
              <a:srgbClr val="0F2E2E">
                <a:alpha val="13000"/>
              </a:srgbClr>
            </a:outerShdw>
          </a:effectLst>
        </p:spPr>
      </p:sp>
      <p:pic>
        <p:nvPicPr>
          <p:cNvPr id="10" name="Image 1" descr="preencoded.png"/>
          <p:cNvPicPr>
            <a:picLocks noChangeAspect="1"/>
          </p:cNvPicPr>
          <p:nvPr/>
        </p:nvPicPr>
        <p:blipFill>
          <a:blip r:embed="rId4"/>
          <a:stretch>
            <a:fillRect/>
          </a:stretch>
        </p:blipFill>
        <p:spPr>
          <a:xfrm>
            <a:off x="6492240" y="2423160"/>
            <a:ext cx="457200" cy="457200"/>
          </a:xfrm>
          <a:prstGeom prst="rect">
            <a:avLst/>
          </a:prstGeom>
        </p:spPr>
      </p:pic>
      <p:sp>
        <p:nvSpPr>
          <p:cNvPr id="11" name="Text 7"/>
          <p:cNvSpPr/>
          <p:nvPr/>
        </p:nvSpPr>
        <p:spPr>
          <a:xfrm>
            <a:off x="7086600" y="2423160"/>
            <a:ext cx="4297680" cy="457200"/>
          </a:xfrm>
          <a:prstGeom prst="rect">
            <a:avLst/>
          </a:prstGeom>
          <a:noFill/>
          <a:ln/>
        </p:spPr>
        <p:txBody>
          <a:bodyPr wrap="square" lIns="0" tIns="0" rIns="0" bIns="0" rtlCol="0" anchor="ctr"/>
          <a:lstStyle/>
          <a:p>
            <a:pPr marL="0" indent="0">
              <a:buNone/>
            </a:pPr>
            <a:r>
              <a:rPr lang="en-US" sz="1700" b="1" dirty="0">
                <a:solidFill>
                  <a:srgbClr val="0F2E2E"/>
                </a:solidFill>
                <a:latin typeface="Calibri" pitchFamily="34" charset="0"/>
                <a:ea typeface="Calibri" pitchFamily="34" charset="-122"/>
                <a:cs typeface="Calibri" pitchFamily="34" charset="-120"/>
              </a:rPr>
              <a:t>How to leverage it</a:t>
            </a:r>
            <a:endParaRPr lang="en-US" sz="1700" dirty="0"/>
          </a:p>
        </p:txBody>
      </p:sp>
      <p:sp>
        <p:nvSpPr>
          <p:cNvPr id="12" name="Text 8"/>
          <p:cNvSpPr/>
          <p:nvPr/>
        </p:nvSpPr>
        <p:spPr>
          <a:xfrm>
            <a:off x="6492240" y="3063240"/>
            <a:ext cx="4892040" cy="3017520"/>
          </a:xfrm>
          <a:prstGeom prst="rect">
            <a:avLst/>
          </a:prstGeom>
          <a:noFill/>
          <a:ln/>
        </p:spPr>
        <p:txBody>
          <a:bodyPr wrap="square" lIns="0" tIns="0" rIns="0" bIns="0" rtlCol="0" anchor="ctr"/>
          <a:lstStyle/>
          <a:p>
            <a:pPr marL="0" indent="0">
              <a:lnSpc>
                <a:spcPct val="125000"/>
              </a:lnSpc>
              <a:spcAft>
                <a:spcPts val="800"/>
              </a:spcAft>
              <a:buNone/>
            </a:pPr>
            <a:r>
              <a:rPr lang="en-US" sz="1350" b="1" dirty="0">
                <a:solidFill>
                  <a:srgbClr val="0F2E2E"/>
                </a:solidFill>
                <a:latin typeface="Calibri" pitchFamily="34" charset="0"/>
                <a:ea typeface="Calibri" pitchFamily="34" charset="-122"/>
                <a:cs typeface="Calibri" pitchFamily="34" charset="-120"/>
              </a:rPr>
              <a:t>Keep the right files open </a:t>
            </a:r>
            <a:r>
              <a:rPr lang="en-US" sz="1350" dirty="0">
                <a:solidFill>
                  <a:srgbClr val="1E3535"/>
                </a:solidFill>
                <a:latin typeface="Calibri" pitchFamily="34" charset="0"/>
                <a:ea typeface="Calibri" pitchFamily="34" charset="-122"/>
                <a:cs typeface="Calibri" pitchFamily="34" charset="-120"/>
              </a:rPr>
              <a:t>and work inside the relevant module — nearby code steers suggestions.</a:t>
            </a:r>
            <a:endParaRPr lang="en-US" sz="1350" dirty="0"/>
          </a:p>
          <a:p>
            <a:pPr marL="0" indent="0">
              <a:lnSpc>
                <a:spcPct val="125000"/>
              </a:lnSpc>
              <a:spcAft>
                <a:spcPts val="800"/>
              </a:spcAft>
              <a:buNone/>
            </a:pPr>
            <a:r>
              <a:rPr lang="en-US" sz="1350" b="1" dirty="0">
                <a:solidFill>
                  <a:srgbClr val="0F2E2E"/>
                </a:solidFill>
                <a:latin typeface="Calibri" pitchFamily="34" charset="0"/>
                <a:ea typeface="Calibri" pitchFamily="34" charset="-122"/>
                <a:cs typeface="Calibri" pitchFamily="34" charset="-120"/>
              </a:rPr>
              <a:t>Use real names </a:t>
            </a:r>
            <a:r>
              <a:rPr lang="en-US" sz="1350" dirty="0">
                <a:solidFill>
                  <a:srgbClr val="1E3535"/>
                </a:solidFill>
                <a:latin typeface="Calibri" pitchFamily="34" charset="0"/>
                <a:ea typeface="Calibri" pitchFamily="34" charset="-122"/>
                <a:cs typeface="Calibri" pitchFamily="34" charset="-120"/>
              </a:rPr>
              <a:t>from the project (class, method, file). They match the index directly.</a:t>
            </a:r>
            <a:endParaRPr lang="en-US" sz="1350" dirty="0"/>
          </a:p>
          <a:p>
            <a:pPr marL="0" indent="0">
              <a:lnSpc>
                <a:spcPct val="125000"/>
              </a:lnSpc>
              <a:spcAft>
                <a:spcPts val="800"/>
              </a:spcAft>
              <a:buNone/>
            </a:pPr>
            <a:r>
              <a:rPr lang="en-US" sz="1350" b="1" dirty="0">
                <a:solidFill>
                  <a:srgbClr val="0F2E2E"/>
                </a:solidFill>
                <a:latin typeface="Calibri" pitchFamily="34" charset="0"/>
                <a:ea typeface="Calibri" pitchFamily="34" charset="-122"/>
                <a:cs typeface="Calibri" pitchFamily="34" charset="-120"/>
              </a:rPr>
              <a:t>Ask it to follow existing patterns: </a:t>
            </a:r>
            <a:r>
              <a:rPr lang="en-US" sz="1350" dirty="0">
                <a:solidFill>
                  <a:srgbClr val="1E3535"/>
                </a:solidFill>
                <a:latin typeface="Calibri" pitchFamily="34" charset="0"/>
                <a:ea typeface="Calibri" pitchFamily="34" charset="-122"/>
                <a:cs typeface="Calibri" pitchFamily="34" charset="-120"/>
              </a:rPr>
              <a:t>"follow how CustomerRepository does this" beats describing rules.</a:t>
            </a:r>
            <a:endParaRPr lang="en-US" sz="1350" dirty="0"/>
          </a:p>
          <a:p>
            <a:pPr marL="0" indent="0">
              <a:lnSpc>
                <a:spcPct val="125000"/>
              </a:lnSpc>
              <a:spcAft>
                <a:spcPts val="800"/>
              </a:spcAft>
              <a:buNone/>
            </a:pPr>
            <a:r>
              <a:rPr lang="en-US" sz="1350" b="1" dirty="0">
                <a:solidFill>
                  <a:srgbClr val="0F2E2E"/>
                </a:solidFill>
                <a:latin typeface="Calibri" pitchFamily="34" charset="0"/>
                <a:ea typeface="Calibri" pitchFamily="34" charset="-122"/>
                <a:cs typeface="Calibri" pitchFamily="34" charset="-120"/>
              </a:rPr>
              <a:t>Keep questions scoped </a:t>
            </a:r>
            <a:r>
              <a:rPr lang="en-US" sz="1350" dirty="0">
                <a:solidFill>
                  <a:srgbClr val="1E3535"/>
                </a:solidFill>
                <a:latin typeface="Calibri" pitchFamily="34" charset="0"/>
                <a:ea typeface="Calibri" pitchFamily="34" charset="-122"/>
                <a:cs typeface="Calibri" pitchFamily="34" charset="-120"/>
              </a:rPr>
              <a:t>— it retrieves relevant snippets, it doesn't do whole-codebase analytics like "how many callers?"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08</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0F2E2E"/>
                </a:solidFill>
                <a:latin typeface="Century Schoolbook" pitchFamily="34" charset="0"/>
                <a:ea typeface="Century Schoolbook" pitchFamily="34" charset="-122"/>
                <a:cs typeface="Century Schoolbook" pitchFamily="34" charset="-120"/>
              </a:rPr>
              <a:t>Spending fewer tokens (that actually matters)</a:t>
            </a:r>
            <a:endParaRPr lang="en-US" sz="2700" dirty="0"/>
          </a:p>
        </p:txBody>
      </p:sp>
      <p:sp>
        <p:nvSpPr>
          <p:cNvPr id="4" name="Text 2"/>
          <p:cNvSpPr/>
          <p:nvPr/>
        </p:nvSpPr>
        <p:spPr>
          <a:xfrm>
            <a:off x="548640" y="1280160"/>
            <a:ext cx="10972800" cy="731520"/>
          </a:xfrm>
          <a:prstGeom prst="rect">
            <a:avLst/>
          </a:prstGeom>
          <a:noFill/>
          <a:ln/>
        </p:spPr>
        <p:txBody>
          <a:bodyPr wrap="square" lIns="0" tIns="0" rIns="0" bIns="0" rtlCol="0" anchor="ctr"/>
          <a:lstStyle/>
          <a:p>
            <a:pPr marL="0" indent="0">
              <a:lnSpc>
                <a:spcPct val="120000"/>
              </a:lnSpc>
              <a:buNone/>
            </a:pPr>
            <a:r>
              <a:rPr lang="en-US" sz="1600" dirty="0">
                <a:solidFill>
                  <a:srgbClr val="1E3535"/>
                </a:solidFill>
                <a:latin typeface="Calibri" pitchFamily="34" charset="0"/>
                <a:ea typeface="Calibri" pitchFamily="34" charset="-122"/>
                <a:cs typeface="Calibri" pitchFamily="34" charset="-120"/>
              </a:rPr>
              <a:t>Tokens are the model's unit of cost and context. Running low makes answers worse and pricier. These are the things that actually move the number — in rough order of impact.</a:t>
            </a:r>
            <a:endParaRPr lang="en-US" sz="1600" dirty="0"/>
          </a:p>
        </p:txBody>
      </p:sp>
      <p:sp>
        <p:nvSpPr>
          <p:cNvPr id="5" name="Shape 3"/>
          <p:cNvSpPr/>
          <p:nvPr/>
        </p:nvSpPr>
        <p:spPr>
          <a:xfrm>
            <a:off x="548640" y="2148840"/>
            <a:ext cx="5394960" cy="1554480"/>
          </a:xfrm>
          <a:prstGeom prst="roundRect">
            <a:avLst>
              <a:gd name="adj" fmla="val 4118"/>
            </a:avLst>
          </a:prstGeom>
          <a:solidFill>
            <a:srgbClr val="FFFFFF"/>
          </a:solidFill>
          <a:ln/>
          <a:effectLst>
            <a:outerShdw blurRad="88900" dist="38100" dir="5400000" algn="bl" rotWithShape="0">
              <a:srgbClr val="0F2E2E">
                <a:alpha val="13000"/>
              </a:srgbClr>
            </a:outerShdw>
          </a:effectLst>
        </p:spPr>
      </p:sp>
      <p:sp>
        <p:nvSpPr>
          <p:cNvPr id="6" name="Shape 4"/>
          <p:cNvSpPr/>
          <p:nvPr/>
        </p:nvSpPr>
        <p:spPr>
          <a:xfrm>
            <a:off x="822960" y="2423160"/>
            <a:ext cx="548640" cy="548640"/>
          </a:xfrm>
          <a:prstGeom prst="ellipse">
            <a:avLst/>
          </a:prstGeom>
          <a:solidFill>
            <a:srgbClr val="F4F8F7"/>
          </a:solidFill>
          <a:ln/>
        </p:spPr>
      </p:sp>
      <p:pic>
        <p:nvPicPr>
          <p:cNvPr id="7" name="Image 0" descr="preencoded.png"/>
          <p:cNvPicPr>
            <a:picLocks noChangeAspect="1"/>
          </p:cNvPicPr>
          <p:nvPr/>
        </p:nvPicPr>
        <p:blipFill>
          <a:blip r:embed="rId3"/>
          <a:stretch>
            <a:fillRect/>
          </a:stretch>
        </p:blipFill>
        <p:spPr>
          <a:xfrm>
            <a:off x="960120" y="2560320"/>
            <a:ext cx="274320" cy="274320"/>
          </a:xfrm>
          <a:prstGeom prst="rect">
            <a:avLst/>
          </a:prstGeom>
        </p:spPr>
      </p:pic>
      <p:sp>
        <p:nvSpPr>
          <p:cNvPr id="8" name="Text 5"/>
          <p:cNvSpPr/>
          <p:nvPr/>
        </p:nvSpPr>
        <p:spPr>
          <a:xfrm>
            <a:off x="1554480" y="2404872"/>
            <a:ext cx="416052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Pasting whole files</a:t>
            </a:r>
            <a:endParaRPr lang="en-US" sz="1550" dirty="0"/>
          </a:p>
        </p:txBody>
      </p:sp>
      <p:sp>
        <p:nvSpPr>
          <p:cNvPr id="9" name="Text 6"/>
          <p:cNvSpPr/>
          <p:nvPr/>
        </p:nvSpPr>
        <p:spPr>
          <a:xfrm>
            <a:off x="868680" y="2898648"/>
            <a:ext cx="4754880" cy="731520"/>
          </a:xfrm>
          <a:prstGeom prst="rect">
            <a:avLst/>
          </a:prstGeom>
          <a:noFill/>
          <a:ln/>
        </p:spPr>
        <p:txBody>
          <a:bodyPr wrap="square" lIns="0" tIns="0" rIns="0" bIns="0" rtlCol="0" anchor="ctr"/>
          <a:lstStyle/>
          <a:p>
            <a:pPr marL="0" indent="0">
              <a:lnSpc>
                <a:spcPct val="115000"/>
              </a:lnSpc>
              <a:buNone/>
            </a:pPr>
            <a:r>
              <a:rPr lang="en-US" sz="1250" dirty="0">
                <a:solidFill>
                  <a:srgbClr val="5B7373"/>
                </a:solidFill>
                <a:latin typeface="Calibri" pitchFamily="34" charset="0"/>
                <a:ea typeface="Calibri" pitchFamily="34" charset="-122"/>
                <a:cs typeface="Calibri" pitchFamily="34" charset="-120"/>
              </a:rPr>
              <a:t>Paste the signature or the 20 relevant lines — Copilot can pull the rest from the index. Dumping a 600-line file every turn is the biggest waste.</a:t>
            </a:r>
            <a:endParaRPr lang="en-US" sz="1250" dirty="0"/>
          </a:p>
        </p:txBody>
      </p:sp>
      <p:sp>
        <p:nvSpPr>
          <p:cNvPr id="10" name="Shape 7"/>
          <p:cNvSpPr/>
          <p:nvPr/>
        </p:nvSpPr>
        <p:spPr>
          <a:xfrm>
            <a:off x="6217920" y="2148840"/>
            <a:ext cx="5394960" cy="1554480"/>
          </a:xfrm>
          <a:prstGeom prst="roundRect">
            <a:avLst>
              <a:gd name="adj" fmla="val 4118"/>
            </a:avLst>
          </a:prstGeom>
          <a:solidFill>
            <a:srgbClr val="FFFFFF"/>
          </a:solidFill>
          <a:ln/>
          <a:effectLst>
            <a:outerShdw blurRad="88900" dist="38100" dir="5400000" algn="bl" rotWithShape="0">
              <a:srgbClr val="0F2E2E">
                <a:alpha val="13000"/>
              </a:srgbClr>
            </a:outerShdw>
          </a:effectLst>
        </p:spPr>
      </p:sp>
      <p:sp>
        <p:nvSpPr>
          <p:cNvPr id="11" name="Shape 8"/>
          <p:cNvSpPr/>
          <p:nvPr/>
        </p:nvSpPr>
        <p:spPr>
          <a:xfrm>
            <a:off x="6492240" y="2423160"/>
            <a:ext cx="548640" cy="548640"/>
          </a:xfrm>
          <a:prstGeom prst="ellipse">
            <a:avLst/>
          </a:prstGeom>
          <a:solidFill>
            <a:srgbClr val="F4F8F7"/>
          </a:solidFill>
          <a:ln/>
        </p:spPr>
      </p:sp>
      <p:pic>
        <p:nvPicPr>
          <p:cNvPr id="12" name="Image 1" descr="preencoded.png"/>
          <p:cNvPicPr>
            <a:picLocks noChangeAspect="1"/>
          </p:cNvPicPr>
          <p:nvPr/>
        </p:nvPicPr>
        <p:blipFill>
          <a:blip r:embed="rId4"/>
          <a:stretch>
            <a:fillRect/>
          </a:stretch>
        </p:blipFill>
        <p:spPr>
          <a:xfrm>
            <a:off x="6629400" y="2560320"/>
            <a:ext cx="274320" cy="274320"/>
          </a:xfrm>
          <a:prstGeom prst="rect">
            <a:avLst/>
          </a:prstGeom>
        </p:spPr>
      </p:pic>
      <p:sp>
        <p:nvSpPr>
          <p:cNvPr id="13" name="Text 9"/>
          <p:cNvSpPr/>
          <p:nvPr/>
        </p:nvSpPr>
        <p:spPr>
          <a:xfrm>
            <a:off x="7223760" y="2404872"/>
            <a:ext cx="416052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Re-sending context each turn</a:t>
            </a:r>
            <a:endParaRPr lang="en-US" sz="1550" dirty="0"/>
          </a:p>
        </p:txBody>
      </p:sp>
      <p:sp>
        <p:nvSpPr>
          <p:cNvPr id="14" name="Text 10"/>
          <p:cNvSpPr/>
          <p:nvPr/>
        </p:nvSpPr>
        <p:spPr>
          <a:xfrm>
            <a:off x="6537960" y="2898648"/>
            <a:ext cx="4754880" cy="731520"/>
          </a:xfrm>
          <a:prstGeom prst="rect">
            <a:avLst/>
          </a:prstGeom>
          <a:noFill/>
          <a:ln/>
        </p:spPr>
        <p:txBody>
          <a:bodyPr wrap="square" lIns="0" tIns="0" rIns="0" bIns="0" rtlCol="0" anchor="ctr"/>
          <a:lstStyle/>
          <a:p>
            <a:pPr marL="0" indent="0">
              <a:lnSpc>
                <a:spcPct val="115000"/>
              </a:lnSpc>
              <a:buNone/>
            </a:pPr>
            <a:r>
              <a:rPr lang="en-US" sz="1250" dirty="0">
                <a:solidFill>
                  <a:srgbClr val="5B7373"/>
                </a:solidFill>
                <a:latin typeface="Calibri" pitchFamily="34" charset="0"/>
                <a:ea typeface="Calibri" pitchFamily="34" charset="-122"/>
                <a:cs typeface="Calibri" pitchFamily="34" charset="-120"/>
              </a:rPr>
              <a:t>Every chat message re-sends the whole conversation. Long threads get expensive fast — start a fresh chat for a new task.</a:t>
            </a:r>
            <a:endParaRPr lang="en-US" sz="1250" dirty="0"/>
          </a:p>
        </p:txBody>
      </p:sp>
      <p:sp>
        <p:nvSpPr>
          <p:cNvPr id="15" name="Shape 11"/>
          <p:cNvSpPr/>
          <p:nvPr/>
        </p:nvSpPr>
        <p:spPr>
          <a:xfrm>
            <a:off x="548640" y="3959352"/>
            <a:ext cx="5394960" cy="1554480"/>
          </a:xfrm>
          <a:prstGeom prst="roundRect">
            <a:avLst>
              <a:gd name="adj" fmla="val 4118"/>
            </a:avLst>
          </a:prstGeom>
          <a:solidFill>
            <a:srgbClr val="FFFFFF"/>
          </a:solidFill>
          <a:ln/>
          <a:effectLst>
            <a:outerShdw blurRad="88900" dist="38100" dir="5400000" algn="bl" rotWithShape="0">
              <a:srgbClr val="0F2E2E">
                <a:alpha val="13000"/>
              </a:srgbClr>
            </a:outerShdw>
          </a:effectLst>
        </p:spPr>
      </p:sp>
      <p:sp>
        <p:nvSpPr>
          <p:cNvPr id="16" name="Shape 12"/>
          <p:cNvSpPr/>
          <p:nvPr/>
        </p:nvSpPr>
        <p:spPr>
          <a:xfrm>
            <a:off x="822960" y="4233672"/>
            <a:ext cx="548640" cy="548640"/>
          </a:xfrm>
          <a:prstGeom prst="ellipse">
            <a:avLst/>
          </a:prstGeom>
          <a:solidFill>
            <a:srgbClr val="F4F8F7"/>
          </a:solidFill>
          <a:ln/>
        </p:spPr>
      </p:sp>
      <p:pic>
        <p:nvPicPr>
          <p:cNvPr id="17" name="Image 2" descr="preencoded.png"/>
          <p:cNvPicPr>
            <a:picLocks noChangeAspect="1"/>
          </p:cNvPicPr>
          <p:nvPr/>
        </p:nvPicPr>
        <p:blipFill>
          <a:blip r:embed="rId5"/>
          <a:stretch>
            <a:fillRect/>
          </a:stretch>
        </p:blipFill>
        <p:spPr>
          <a:xfrm>
            <a:off x="960120" y="4370832"/>
            <a:ext cx="274320" cy="274320"/>
          </a:xfrm>
          <a:prstGeom prst="rect">
            <a:avLst/>
          </a:prstGeom>
        </p:spPr>
      </p:pic>
      <p:sp>
        <p:nvSpPr>
          <p:cNvPr id="18" name="Text 13"/>
          <p:cNvSpPr/>
          <p:nvPr/>
        </p:nvSpPr>
        <p:spPr>
          <a:xfrm>
            <a:off x="1554480" y="4215384"/>
            <a:ext cx="416052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Vague prompts → many rounds</a:t>
            </a:r>
            <a:endParaRPr lang="en-US" sz="1550" dirty="0"/>
          </a:p>
        </p:txBody>
      </p:sp>
      <p:sp>
        <p:nvSpPr>
          <p:cNvPr id="19" name="Text 14"/>
          <p:cNvSpPr/>
          <p:nvPr/>
        </p:nvSpPr>
        <p:spPr>
          <a:xfrm>
            <a:off x="868680" y="4709160"/>
            <a:ext cx="4754880" cy="731520"/>
          </a:xfrm>
          <a:prstGeom prst="rect">
            <a:avLst/>
          </a:prstGeom>
          <a:noFill/>
          <a:ln/>
        </p:spPr>
        <p:txBody>
          <a:bodyPr wrap="square" lIns="0" tIns="0" rIns="0" bIns="0" rtlCol="0" anchor="ctr"/>
          <a:lstStyle/>
          <a:p>
            <a:pPr marL="0" indent="0">
              <a:lnSpc>
                <a:spcPct val="115000"/>
              </a:lnSpc>
              <a:buNone/>
            </a:pPr>
            <a:r>
              <a:rPr lang="en-US" sz="1250" dirty="0">
                <a:solidFill>
                  <a:srgbClr val="5B7373"/>
                </a:solidFill>
                <a:latin typeface="Calibri" pitchFamily="34" charset="0"/>
                <a:ea typeface="Calibri" pitchFamily="34" charset="-122"/>
                <a:cs typeface="Calibri" pitchFamily="34" charset="-120"/>
              </a:rPr>
              <a:t>Each clarifying round re-sends everything. One precise prompt is cheaper than five sloppy ones.</a:t>
            </a:r>
            <a:endParaRPr lang="en-US" sz="1250" dirty="0"/>
          </a:p>
        </p:txBody>
      </p:sp>
      <p:sp>
        <p:nvSpPr>
          <p:cNvPr id="20" name="Shape 15"/>
          <p:cNvSpPr/>
          <p:nvPr/>
        </p:nvSpPr>
        <p:spPr>
          <a:xfrm>
            <a:off x="6217920" y="3959352"/>
            <a:ext cx="5394960" cy="1554480"/>
          </a:xfrm>
          <a:prstGeom prst="roundRect">
            <a:avLst>
              <a:gd name="adj" fmla="val 4118"/>
            </a:avLst>
          </a:prstGeom>
          <a:solidFill>
            <a:srgbClr val="FFFFFF"/>
          </a:solidFill>
          <a:ln/>
          <a:effectLst>
            <a:outerShdw blurRad="88900" dist="38100" dir="5400000" algn="bl" rotWithShape="0">
              <a:srgbClr val="0F2E2E">
                <a:alpha val="13000"/>
              </a:srgbClr>
            </a:outerShdw>
          </a:effectLst>
        </p:spPr>
      </p:sp>
      <p:sp>
        <p:nvSpPr>
          <p:cNvPr id="21" name="Shape 16"/>
          <p:cNvSpPr/>
          <p:nvPr/>
        </p:nvSpPr>
        <p:spPr>
          <a:xfrm>
            <a:off x="6492240" y="4233672"/>
            <a:ext cx="548640" cy="548640"/>
          </a:xfrm>
          <a:prstGeom prst="ellipse">
            <a:avLst/>
          </a:prstGeom>
          <a:solidFill>
            <a:srgbClr val="F4F8F7"/>
          </a:solidFill>
          <a:ln/>
        </p:spPr>
      </p:sp>
      <p:pic>
        <p:nvPicPr>
          <p:cNvPr id="22" name="Image 3" descr="preencoded.png"/>
          <p:cNvPicPr>
            <a:picLocks noChangeAspect="1"/>
          </p:cNvPicPr>
          <p:nvPr/>
        </p:nvPicPr>
        <p:blipFill>
          <a:blip r:embed="rId6"/>
          <a:stretch>
            <a:fillRect/>
          </a:stretch>
        </p:blipFill>
        <p:spPr>
          <a:xfrm>
            <a:off x="6629400" y="4370832"/>
            <a:ext cx="274320" cy="274320"/>
          </a:xfrm>
          <a:prstGeom prst="rect">
            <a:avLst/>
          </a:prstGeom>
        </p:spPr>
      </p:pic>
      <p:sp>
        <p:nvSpPr>
          <p:cNvPr id="23" name="Text 17"/>
          <p:cNvSpPr/>
          <p:nvPr/>
        </p:nvSpPr>
        <p:spPr>
          <a:xfrm>
            <a:off x="7223760" y="4215384"/>
            <a:ext cx="416052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Never resetting the session</a:t>
            </a:r>
            <a:endParaRPr lang="en-US" sz="1550" dirty="0"/>
          </a:p>
        </p:txBody>
      </p:sp>
      <p:sp>
        <p:nvSpPr>
          <p:cNvPr id="24" name="Text 18"/>
          <p:cNvSpPr/>
          <p:nvPr/>
        </p:nvSpPr>
        <p:spPr>
          <a:xfrm>
            <a:off x="6537960" y="4709160"/>
            <a:ext cx="4754880" cy="731520"/>
          </a:xfrm>
          <a:prstGeom prst="rect">
            <a:avLst/>
          </a:prstGeom>
          <a:noFill/>
          <a:ln/>
        </p:spPr>
        <p:txBody>
          <a:bodyPr wrap="square" lIns="0" tIns="0" rIns="0" bIns="0" rtlCol="0" anchor="ctr"/>
          <a:lstStyle/>
          <a:p>
            <a:pPr marL="0" indent="0">
              <a:lnSpc>
                <a:spcPct val="115000"/>
              </a:lnSpc>
              <a:buNone/>
            </a:pPr>
            <a:r>
              <a:rPr lang="en-US" sz="1250" dirty="0">
                <a:solidFill>
                  <a:srgbClr val="5B7373"/>
                </a:solidFill>
                <a:latin typeface="Calibri" pitchFamily="34" charset="0"/>
                <a:ea typeface="Calibri" pitchFamily="34" charset="-122"/>
                <a:cs typeface="Calibri" pitchFamily="34" charset="-120"/>
              </a:rPr>
              <a:t>Old, irrelevant history keeps riding along. Close it out when you switch problems.</a:t>
            </a:r>
            <a:endParaRPr lang="en-US" sz="1250" dirty="0"/>
          </a:p>
        </p:txBody>
      </p:sp>
      <p:sp>
        <p:nvSpPr>
          <p:cNvPr id="25" name="Shape 19"/>
          <p:cNvSpPr/>
          <p:nvPr/>
        </p:nvSpPr>
        <p:spPr>
          <a:xfrm>
            <a:off x="548640" y="5742432"/>
            <a:ext cx="11064240" cy="566928"/>
          </a:xfrm>
          <a:prstGeom prst="roundRect">
            <a:avLst>
              <a:gd name="adj" fmla="val 9677"/>
            </a:avLst>
          </a:prstGeom>
          <a:solidFill>
            <a:srgbClr val="0F2E2E"/>
          </a:solidFill>
          <a:ln/>
        </p:spPr>
      </p:sp>
      <p:sp>
        <p:nvSpPr>
          <p:cNvPr id="26" name="Text 20"/>
          <p:cNvSpPr/>
          <p:nvPr/>
        </p:nvSpPr>
        <p:spPr>
          <a:xfrm>
            <a:off x="868680" y="5742432"/>
            <a:ext cx="10424160" cy="566928"/>
          </a:xfrm>
          <a:prstGeom prst="rect">
            <a:avLst/>
          </a:prstGeom>
          <a:noFill/>
          <a:ln/>
        </p:spPr>
        <p:txBody>
          <a:bodyPr wrap="square" lIns="0" tIns="0" rIns="0" bIns="0" rtlCol="0" anchor="ctr"/>
          <a:lstStyle/>
          <a:p>
            <a:pPr marL="0" indent="0">
              <a:buNone/>
            </a:pPr>
            <a:r>
              <a:rPr lang="en-US" sz="1250" b="1" dirty="0">
                <a:solidFill>
                  <a:srgbClr val="02C39A"/>
                </a:solidFill>
                <a:latin typeface="Calibri" pitchFamily="34" charset="0"/>
                <a:ea typeface="Calibri" pitchFamily="34" charset="-122"/>
                <a:cs typeface="Calibri" pitchFamily="34" charset="-120"/>
              </a:rPr>
              <a:t>Minor note: </a:t>
            </a:r>
            <a:r>
              <a:rPr lang="en-US" sz="1250" dirty="0">
                <a:solidFill>
                  <a:srgbClr val="CFE6E3"/>
                </a:solidFill>
                <a:latin typeface="Calibri" pitchFamily="34" charset="0"/>
                <a:ea typeface="Calibri" pitchFamily="34" charset="-122"/>
                <a:cs typeface="Calibri" pitchFamily="34" charset="-120"/>
              </a:rPr>
              <a:t>typos and odd abbreviations tokenize slightly worse.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E2E"/>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 cy="640080"/>
          </a:xfrm>
          <a:prstGeom prst="rect">
            <a:avLst/>
          </a:prstGeom>
          <a:noFill/>
          <a:ln/>
        </p:spPr>
        <p:txBody>
          <a:bodyPr wrap="square" lIns="0" tIns="0" rIns="0" bIns="0" rtlCol="0" anchor="ctr"/>
          <a:lstStyle/>
          <a:p>
            <a:pPr marL="0" indent="0">
              <a:buNone/>
            </a:pPr>
            <a:r>
              <a:rPr lang="en-US" sz="2800" b="1" dirty="0">
                <a:solidFill>
                  <a:srgbClr val="02C39A"/>
                </a:solidFill>
                <a:latin typeface="Century Schoolbook" pitchFamily="34" charset="0"/>
                <a:ea typeface="Century Schoolbook" pitchFamily="34" charset="-122"/>
                <a:cs typeface="Century Schoolbook" pitchFamily="34" charset="-120"/>
              </a:rPr>
              <a:t>09</a:t>
            </a:r>
            <a:endParaRPr lang="en-US" sz="2800" dirty="0"/>
          </a:p>
        </p:txBody>
      </p:sp>
      <p:sp>
        <p:nvSpPr>
          <p:cNvPr id="3" name="Text 1"/>
          <p:cNvSpPr/>
          <p:nvPr/>
        </p:nvSpPr>
        <p:spPr>
          <a:xfrm>
            <a:off x="1417320" y="411480"/>
            <a:ext cx="10149840" cy="640080"/>
          </a:xfrm>
          <a:prstGeom prst="rect">
            <a:avLst/>
          </a:prstGeom>
          <a:noFill/>
          <a:ln/>
        </p:spPr>
        <p:txBody>
          <a:bodyPr wrap="square" lIns="0" tIns="0" rIns="0" bIns="0" rtlCol="0" anchor="ctr"/>
          <a:lstStyle/>
          <a:p>
            <a:pPr marL="0" indent="0">
              <a:buNone/>
            </a:pPr>
            <a:r>
              <a:rPr lang="en-US" sz="2700" b="1" dirty="0">
                <a:solidFill>
                  <a:srgbClr val="FFFFFF"/>
                </a:solidFill>
                <a:latin typeface="Century Schoolbook" pitchFamily="34" charset="0"/>
                <a:ea typeface="Century Schoolbook" pitchFamily="34" charset="-122"/>
                <a:cs typeface="Century Schoolbook" pitchFamily="34" charset="-120"/>
              </a:rPr>
              <a:t>Try it now, then the three things to keep</a:t>
            </a:r>
            <a:endParaRPr lang="en-US" sz="2700" dirty="0"/>
          </a:p>
        </p:txBody>
      </p:sp>
      <p:sp>
        <p:nvSpPr>
          <p:cNvPr id="4" name="Shape 2"/>
          <p:cNvSpPr/>
          <p:nvPr/>
        </p:nvSpPr>
        <p:spPr>
          <a:xfrm>
            <a:off x="548640" y="1280160"/>
            <a:ext cx="5532120" cy="4983480"/>
          </a:xfrm>
          <a:prstGeom prst="roundRect">
            <a:avLst>
              <a:gd name="adj" fmla="val 1468"/>
            </a:avLst>
          </a:prstGeom>
          <a:solidFill>
            <a:srgbClr val="13403F"/>
          </a:solidFill>
          <a:ln/>
        </p:spPr>
      </p:sp>
      <p:pic>
        <p:nvPicPr>
          <p:cNvPr id="5" name="Image 0" descr="preencoded.png"/>
          <p:cNvPicPr>
            <a:picLocks noChangeAspect="1"/>
          </p:cNvPicPr>
          <p:nvPr/>
        </p:nvPicPr>
        <p:blipFill>
          <a:blip r:embed="rId3"/>
          <a:stretch>
            <a:fillRect/>
          </a:stretch>
        </p:blipFill>
        <p:spPr>
          <a:xfrm>
            <a:off x="868680" y="1572768"/>
            <a:ext cx="457200" cy="457200"/>
          </a:xfrm>
          <a:prstGeom prst="rect">
            <a:avLst/>
          </a:prstGeom>
        </p:spPr>
      </p:pic>
      <p:sp>
        <p:nvSpPr>
          <p:cNvPr id="6" name="Text 3"/>
          <p:cNvSpPr/>
          <p:nvPr/>
        </p:nvSpPr>
        <p:spPr>
          <a:xfrm>
            <a:off x="1463040" y="1572768"/>
            <a:ext cx="4114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5-minute exercise</a:t>
            </a:r>
            <a:endParaRPr lang="en-US" sz="1800" dirty="0"/>
          </a:p>
        </p:txBody>
      </p:sp>
      <p:sp>
        <p:nvSpPr>
          <p:cNvPr id="7" name="Text 4"/>
          <p:cNvSpPr/>
          <p:nvPr/>
        </p:nvSpPr>
        <p:spPr>
          <a:xfrm>
            <a:off x="868680" y="2148840"/>
            <a:ext cx="4937760" cy="914400"/>
          </a:xfrm>
          <a:prstGeom prst="rect">
            <a:avLst/>
          </a:prstGeom>
          <a:noFill/>
          <a:ln/>
        </p:spPr>
        <p:txBody>
          <a:bodyPr wrap="square" lIns="0" tIns="0" rIns="0" bIns="0" rtlCol="0" anchor="ctr"/>
          <a:lstStyle/>
          <a:p>
            <a:pPr marL="0" indent="0">
              <a:lnSpc>
                <a:spcPct val="125000"/>
              </a:lnSpc>
              <a:buNone/>
            </a:pPr>
            <a:r>
              <a:rPr lang="en-US" sz="1350" dirty="0">
                <a:solidFill>
                  <a:srgbClr val="CFE6E3"/>
                </a:solidFill>
                <a:latin typeface="Calibri" pitchFamily="34" charset="0"/>
                <a:ea typeface="Calibri" pitchFamily="34" charset="-122"/>
                <a:cs typeface="Calibri" pitchFamily="34" charset="-120"/>
              </a:rPr>
              <a:t>Take that real task you brought. Rewrite the prompt against this checklist, run the old and new versions in Copilot, and compare the diffs.</a:t>
            </a:r>
            <a:endParaRPr lang="en-US" sz="1350" dirty="0"/>
          </a:p>
        </p:txBody>
      </p:sp>
      <p:sp>
        <p:nvSpPr>
          <p:cNvPr id="8" name="Shape 5"/>
          <p:cNvSpPr/>
          <p:nvPr/>
        </p:nvSpPr>
        <p:spPr>
          <a:xfrm>
            <a:off x="868680" y="3200400"/>
            <a:ext cx="384048" cy="384048"/>
          </a:xfrm>
          <a:prstGeom prst="ellipse">
            <a:avLst/>
          </a:prstGeom>
          <a:solidFill>
            <a:srgbClr val="02C39A"/>
          </a:solidFill>
          <a:ln/>
        </p:spPr>
      </p:sp>
      <p:sp>
        <p:nvSpPr>
          <p:cNvPr id="9" name="Text 6"/>
          <p:cNvSpPr/>
          <p:nvPr/>
        </p:nvSpPr>
        <p:spPr>
          <a:xfrm>
            <a:off x="868680" y="3200400"/>
            <a:ext cx="384048" cy="384048"/>
          </a:xfrm>
          <a:prstGeom prst="rect">
            <a:avLst/>
          </a:prstGeom>
          <a:noFill/>
          <a:ln/>
        </p:spPr>
        <p:txBody>
          <a:bodyPr wrap="square" lIns="0" tIns="0" rIns="0" bIns="0" rtlCol="0" anchor="ctr"/>
          <a:lstStyle/>
          <a:p>
            <a:pPr marL="0" indent="0" algn="ctr">
              <a:buNone/>
            </a:pPr>
            <a:r>
              <a:rPr lang="en-US" sz="1400" b="1" dirty="0">
                <a:solidFill>
                  <a:srgbClr val="0F2E2E"/>
                </a:solidFill>
                <a:latin typeface="Century Schoolbook" pitchFamily="34" charset="0"/>
                <a:ea typeface="Century Schoolbook" pitchFamily="34" charset="-122"/>
                <a:cs typeface="Century Schoolbook" pitchFamily="34" charset="-120"/>
              </a:rPr>
              <a:t>1</a:t>
            </a:r>
            <a:endParaRPr lang="en-US" sz="1400" dirty="0"/>
          </a:p>
        </p:txBody>
      </p:sp>
      <p:sp>
        <p:nvSpPr>
          <p:cNvPr id="10" name="Text 7"/>
          <p:cNvSpPr/>
          <p:nvPr/>
        </p:nvSpPr>
        <p:spPr>
          <a:xfrm>
            <a:off x="1371600" y="3154680"/>
            <a:ext cx="4480560"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Task  —  </a:t>
            </a:r>
            <a:r>
              <a:rPr lang="en-US" sz="1300" dirty="0">
                <a:solidFill>
                  <a:srgbClr val="CFE6E3"/>
                </a:solidFill>
                <a:latin typeface="Calibri" pitchFamily="34" charset="0"/>
                <a:ea typeface="Calibri" pitchFamily="34" charset="-122"/>
                <a:cs typeface="Calibri" pitchFamily="34" charset="-120"/>
              </a:rPr>
              <a:t>the one thing you want, in a sentence</a:t>
            </a:r>
            <a:endParaRPr lang="en-US" sz="1300" dirty="0"/>
          </a:p>
        </p:txBody>
      </p:sp>
      <p:sp>
        <p:nvSpPr>
          <p:cNvPr id="11" name="Shape 8"/>
          <p:cNvSpPr/>
          <p:nvPr/>
        </p:nvSpPr>
        <p:spPr>
          <a:xfrm>
            <a:off x="868680" y="3776472"/>
            <a:ext cx="384048" cy="384048"/>
          </a:xfrm>
          <a:prstGeom prst="ellipse">
            <a:avLst/>
          </a:prstGeom>
          <a:solidFill>
            <a:srgbClr val="02C39A"/>
          </a:solidFill>
          <a:ln/>
        </p:spPr>
      </p:sp>
      <p:sp>
        <p:nvSpPr>
          <p:cNvPr id="12" name="Text 9"/>
          <p:cNvSpPr/>
          <p:nvPr/>
        </p:nvSpPr>
        <p:spPr>
          <a:xfrm>
            <a:off x="868680" y="3776472"/>
            <a:ext cx="384048" cy="384048"/>
          </a:xfrm>
          <a:prstGeom prst="rect">
            <a:avLst/>
          </a:prstGeom>
          <a:noFill/>
          <a:ln/>
        </p:spPr>
        <p:txBody>
          <a:bodyPr wrap="square" lIns="0" tIns="0" rIns="0" bIns="0" rtlCol="0" anchor="ctr"/>
          <a:lstStyle/>
          <a:p>
            <a:pPr marL="0" indent="0" algn="ctr">
              <a:buNone/>
            </a:pPr>
            <a:r>
              <a:rPr lang="en-US" sz="1400" b="1" dirty="0">
                <a:solidFill>
                  <a:srgbClr val="0F2E2E"/>
                </a:solidFill>
                <a:latin typeface="Century Schoolbook" pitchFamily="34" charset="0"/>
                <a:ea typeface="Century Schoolbook" pitchFamily="34" charset="-122"/>
                <a:cs typeface="Century Schoolbook" pitchFamily="34" charset="-120"/>
              </a:rPr>
              <a:t>2</a:t>
            </a:r>
            <a:endParaRPr lang="en-US" sz="1400" dirty="0"/>
          </a:p>
        </p:txBody>
      </p:sp>
      <p:sp>
        <p:nvSpPr>
          <p:cNvPr id="13" name="Text 10"/>
          <p:cNvSpPr/>
          <p:nvPr/>
        </p:nvSpPr>
        <p:spPr>
          <a:xfrm>
            <a:off x="1371600" y="3730752"/>
            <a:ext cx="4480560"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Context  —  </a:t>
            </a:r>
            <a:r>
              <a:rPr lang="en-US" sz="1300" dirty="0">
                <a:solidFill>
                  <a:srgbClr val="CFE6E3"/>
                </a:solidFill>
                <a:latin typeface="Calibri" pitchFamily="34" charset="0"/>
                <a:ea typeface="Calibri" pitchFamily="34" charset="-122"/>
                <a:cs typeface="Calibri" pitchFamily="34" charset="-120"/>
              </a:rPr>
              <a:t>name real classes/files — don't paste them</a:t>
            </a:r>
            <a:endParaRPr lang="en-US" sz="1300" dirty="0"/>
          </a:p>
        </p:txBody>
      </p:sp>
      <p:sp>
        <p:nvSpPr>
          <p:cNvPr id="14" name="Shape 11"/>
          <p:cNvSpPr/>
          <p:nvPr/>
        </p:nvSpPr>
        <p:spPr>
          <a:xfrm>
            <a:off x="868680" y="4352544"/>
            <a:ext cx="384048" cy="384048"/>
          </a:xfrm>
          <a:prstGeom prst="ellipse">
            <a:avLst/>
          </a:prstGeom>
          <a:solidFill>
            <a:srgbClr val="02C39A"/>
          </a:solidFill>
          <a:ln/>
        </p:spPr>
      </p:sp>
      <p:sp>
        <p:nvSpPr>
          <p:cNvPr id="15" name="Text 12"/>
          <p:cNvSpPr/>
          <p:nvPr/>
        </p:nvSpPr>
        <p:spPr>
          <a:xfrm>
            <a:off x="868680" y="4352544"/>
            <a:ext cx="384048" cy="384048"/>
          </a:xfrm>
          <a:prstGeom prst="rect">
            <a:avLst/>
          </a:prstGeom>
          <a:noFill/>
          <a:ln/>
        </p:spPr>
        <p:txBody>
          <a:bodyPr wrap="square" lIns="0" tIns="0" rIns="0" bIns="0" rtlCol="0" anchor="ctr"/>
          <a:lstStyle/>
          <a:p>
            <a:pPr marL="0" indent="0" algn="ctr">
              <a:buNone/>
            </a:pPr>
            <a:r>
              <a:rPr lang="en-US" sz="1400" b="1" dirty="0">
                <a:solidFill>
                  <a:srgbClr val="0F2E2E"/>
                </a:solidFill>
                <a:latin typeface="Century Schoolbook" pitchFamily="34" charset="0"/>
                <a:ea typeface="Century Schoolbook" pitchFamily="34" charset="-122"/>
                <a:cs typeface="Century Schoolbook" pitchFamily="34" charset="-120"/>
              </a:rPr>
              <a:t>3</a:t>
            </a:r>
            <a:endParaRPr lang="en-US" sz="1400" dirty="0"/>
          </a:p>
        </p:txBody>
      </p:sp>
      <p:sp>
        <p:nvSpPr>
          <p:cNvPr id="16" name="Text 13"/>
          <p:cNvSpPr/>
          <p:nvPr/>
        </p:nvSpPr>
        <p:spPr>
          <a:xfrm>
            <a:off x="1371600" y="4306824"/>
            <a:ext cx="4480560"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Idiom  —  </a:t>
            </a:r>
            <a:r>
              <a:rPr lang="en-US" sz="1300" dirty="0">
                <a:solidFill>
                  <a:srgbClr val="CFE6E3"/>
                </a:solidFill>
                <a:latin typeface="Calibri" pitchFamily="34" charset="0"/>
                <a:ea typeface="Calibri" pitchFamily="34" charset="-122"/>
                <a:cs typeface="Calibri" pitchFamily="34" charset="-120"/>
              </a:rPr>
              <a:t>the framework convention (Panache, @state, pkg)</a:t>
            </a:r>
            <a:endParaRPr lang="en-US" sz="1300" dirty="0"/>
          </a:p>
        </p:txBody>
      </p:sp>
      <p:sp>
        <p:nvSpPr>
          <p:cNvPr id="17" name="Shape 14"/>
          <p:cNvSpPr/>
          <p:nvPr/>
        </p:nvSpPr>
        <p:spPr>
          <a:xfrm>
            <a:off x="868680" y="4928616"/>
            <a:ext cx="384048" cy="384048"/>
          </a:xfrm>
          <a:prstGeom prst="ellipse">
            <a:avLst/>
          </a:prstGeom>
          <a:solidFill>
            <a:srgbClr val="02C39A"/>
          </a:solidFill>
          <a:ln/>
        </p:spPr>
      </p:sp>
      <p:sp>
        <p:nvSpPr>
          <p:cNvPr id="18" name="Text 15"/>
          <p:cNvSpPr/>
          <p:nvPr/>
        </p:nvSpPr>
        <p:spPr>
          <a:xfrm>
            <a:off x="868680" y="4928616"/>
            <a:ext cx="384048" cy="384048"/>
          </a:xfrm>
          <a:prstGeom prst="rect">
            <a:avLst/>
          </a:prstGeom>
          <a:noFill/>
          <a:ln/>
        </p:spPr>
        <p:txBody>
          <a:bodyPr wrap="square" lIns="0" tIns="0" rIns="0" bIns="0" rtlCol="0" anchor="ctr"/>
          <a:lstStyle/>
          <a:p>
            <a:pPr marL="0" indent="0" algn="ctr">
              <a:buNone/>
            </a:pPr>
            <a:r>
              <a:rPr lang="en-US" sz="1400" b="1" dirty="0">
                <a:solidFill>
                  <a:srgbClr val="0F2E2E"/>
                </a:solidFill>
                <a:latin typeface="Century Schoolbook" pitchFamily="34" charset="0"/>
                <a:ea typeface="Century Schoolbook" pitchFamily="34" charset="-122"/>
                <a:cs typeface="Century Schoolbook" pitchFamily="34" charset="-120"/>
              </a:rPr>
              <a:t>4</a:t>
            </a:r>
            <a:endParaRPr lang="en-US" sz="1400" dirty="0"/>
          </a:p>
        </p:txBody>
      </p:sp>
      <p:sp>
        <p:nvSpPr>
          <p:cNvPr id="19" name="Text 16"/>
          <p:cNvSpPr/>
          <p:nvPr/>
        </p:nvSpPr>
        <p:spPr>
          <a:xfrm>
            <a:off x="1371600" y="4882896"/>
            <a:ext cx="4480560"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Format  —  </a:t>
            </a:r>
            <a:r>
              <a:rPr lang="en-US" sz="1300" dirty="0">
                <a:solidFill>
                  <a:srgbClr val="CFE6E3"/>
                </a:solidFill>
                <a:latin typeface="Calibri" pitchFamily="34" charset="0"/>
                <a:ea typeface="Calibri" pitchFamily="34" charset="-122"/>
                <a:cs typeface="Calibri" pitchFamily="34" charset="-120"/>
              </a:rPr>
              <a:t>how the output should look</a:t>
            </a:r>
            <a:endParaRPr lang="en-US" sz="1300" dirty="0"/>
          </a:p>
        </p:txBody>
      </p:sp>
      <p:sp>
        <p:nvSpPr>
          <p:cNvPr id="20" name="Shape 17"/>
          <p:cNvSpPr/>
          <p:nvPr/>
        </p:nvSpPr>
        <p:spPr>
          <a:xfrm>
            <a:off x="868680" y="5504688"/>
            <a:ext cx="384048" cy="384048"/>
          </a:xfrm>
          <a:prstGeom prst="ellipse">
            <a:avLst/>
          </a:prstGeom>
          <a:solidFill>
            <a:srgbClr val="02C39A"/>
          </a:solidFill>
          <a:ln/>
        </p:spPr>
      </p:sp>
      <p:sp>
        <p:nvSpPr>
          <p:cNvPr id="21" name="Text 18"/>
          <p:cNvSpPr/>
          <p:nvPr/>
        </p:nvSpPr>
        <p:spPr>
          <a:xfrm>
            <a:off x="868680" y="5504688"/>
            <a:ext cx="384048" cy="384048"/>
          </a:xfrm>
          <a:prstGeom prst="rect">
            <a:avLst/>
          </a:prstGeom>
          <a:noFill/>
          <a:ln/>
        </p:spPr>
        <p:txBody>
          <a:bodyPr wrap="square" lIns="0" tIns="0" rIns="0" bIns="0" rtlCol="0" anchor="ctr"/>
          <a:lstStyle/>
          <a:p>
            <a:pPr marL="0" indent="0" algn="ctr">
              <a:buNone/>
            </a:pPr>
            <a:r>
              <a:rPr lang="en-US" sz="1400" b="1" dirty="0">
                <a:solidFill>
                  <a:srgbClr val="0F2E2E"/>
                </a:solidFill>
                <a:latin typeface="Century Schoolbook" pitchFamily="34" charset="0"/>
                <a:ea typeface="Century Schoolbook" pitchFamily="34" charset="-122"/>
                <a:cs typeface="Century Schoolbook" pitchFamily="34" charset="-120"/>
              </a:rPr>
              <a:t>5</a:t>
            </a:r>
            <a:endParaRPr lang="en-US" sz="1400" dirty="0"/>
          </a:p>
        </p:txBody>
      </p:sp>
      <p:sp>
        <p:nvSpPr>
          <p:cNvPr id="22" name="Text 19"/>
          <p:cNvSpPr/>
          <p:nvPr/>
        </p:nvSpPr>
        <p:spPr>
          <a:xfrm>
            <a:off x="1371600" y="5458968"/>
            <a:ext cx="4480560" cy="47548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Guardrail  —  </a:t>
            </a:r>
            <a:r>
              <a:rPr lang="en-US" sz="1300" dirty="0">
                <a:solidFill>
                  <a:srgbClr val="CFE6E3"/>
                </a:solidFill>
                <a:latin typeface="Calibri" pitchFamily="34" charset="0"/>
                <a:ea typeface="Calibri" pitchFamily="34" charset="-122"/>
                <a:cs typeface="Calibri" pitchFamily="34" charset="-120"/>
              </a:rPr>
              <a:t>what NOT to do (no commit, no manual DOM)</a:t>
            </a:r>
            <a:endParaRPr lang="en-US" sz="1300" dirty="0"/>
          </a:p>
        </p:txBody>
      </p:sp>
      <p:sp>
        <p:nvSpPr>
          <p:cNvPr id="23" name="Shape 20"/>
          <p:cNvSpPr/>
          <p:nvPr/>
        </p:nvSpPr>
        <p:spPr>
          <a:xfrm>
            <a:off x="6263640" y="1280160"/>
            <a:ext cx="5349240" cy="4983480"/>
          </a:xfrm>
          <a:prstGeom prst="roundRect">
            <a:avLst>
              <a:gd name="adj" fmla="val 1468"/>
            </a:avLst>
          </a:prstGeom>
          <a:solidFill>
            <a:srgbClr val="FFFFFF"/>
          </a:solidFill>
          <a:ln/>
          <a:effectLst>
            <a:outerShdw blurRad="88900" dist="38100" dir="5400000" algn="bl" rotWithShape="0">
              <a:srgbClr val="0F2E2E">
                <a:alpha val="13000"/>
              </a:srgbClr>
            </a:outerShdw>
          </a:effectLst>
        </p:spPr>
      </p:sp>
      <p:pic>
        <p:nvPicPr>
          <p:cNvPr id="24" name="Image 1" descr="preencoded.png"/>
          <p:cNvPicPr>
            <a:picLocks noChangeAspect="1"/>
          </p:cNvPicPr>
          <p:nvPr/>
        </p:nvPicPr>
        <p:blipFill>
          <a:blip r:embed="rId4"/>
          <a:stretch>
            <a:fillRect/>
          </a:stretch>
        </p:blipFill>
        <p:spPr>
          <a:xfrm>
            <a:off x="6583680" y="1572768"/>
            <a:ext cx="457200" cy="457200"/>
          </a:xfrm>
          <a:prstGeom prst="rect">
            <a:avLst/>
          </a:prstGeom>
        </p:spPr>
      </p:pic>
      <p:sp>
        <p:nvSpPr>
          <p:cNvPr id="25" name="Text 21"/>
          <p:cNvSpPr/>
          <p:nvPr/>
        </p:nvSpPr>
        <p:spPr>
          <a:xfrm>
            <a:off x="7178040" y="1572768"/>
            <a:ext cx="4114800" cy="457200"/>
          </a:xfrm>
          <a:prstGeom prst="rect">
            <a:avLst/>
          </a:prstGeom>
          <a:noFill/>
          <a:ln/>
        </p:spPr>
        <p:txBody>
          <a:bodyPr wrap="square" lIns="0" tIns="0" rIns="0" bIns="0" rtlCol="0" anchor="ctr"/>
          <a:lstStyle/>
          <a:p>
            <a:pPr marL="0" indent="0">
              <a:buNone/>
            </a:pPr>
            <a:r>
              <a:rPr lang="en-US" sz="1800" b="1" dirty="0">
                <a:solidFill>
                  <a:srgbClr val="0F2E2E"/>
                </a:solidFill>
                <a:latin typeface="Calibri" pitchFamily="34" charset="0"/>
                <a:ea typeface="Calibri" pitchFamily="34" charset="-122"/>
                <a:cs typeface="Calibri" pitchFamily="34" charset="-120"/>
              </a:rPr>
              <a:t>Three things to keep</a:t>
            </a:r>
            <a:endParaRPr lang="en-US" sz="1800" dirty="0"/>
          </a:p>
        </p:txBody>
      </p:sp>
      <p:sp>
        <p:nvSpPr>
          <p:cNvPr id="26" name="Shape 22"/>
          <p:cNvSpPr/>
          <p:nvPr/>
        </p:nvSpPr>
        <p:spPr>
          <a:xfrm>
            <a:off x="6583680" y="2286000"/>
            <a:ext cx="457200" cy="457200"/>
          </a:xfrm>
          <a:prstGeom prst="ellipse">
            <a:avLst/>
          </a:prstGeom>
          <a:solidFill>
            <a:srgbClr val="F4F8F7"/>
          </a:solidFill>
          <a:ln/>
        </p:spPr>
      </p:sp>
      <p:sp>
        <p:nvSpPr>
          <p:cNvPr id="27" name="Text 23"/>
          <p:cNvSpPr/>
          <p:nvPr/>
        </p:nvSpPr>
        <p:spPr>
          <a:xfrm>
            <a:off x="6583680" y="2286000"/>
            <a:ext cx="457200" cy="457200"/>
          </a:xfrm>
          <a:prstGeom prst="rect">
            <a:avLst/>
          </a:prstGeom>
          <a:noFill/>
          <a:ln/>
        </p:spPr>
        <p:txBody>
          <a:bodyPr wrap="square" lIns="0" tIns="0" rIns="0" bIns="0" rtlCol="0" anchor="ctr"/>
          <a:lstStyle/>
          <a:p>
            <a:pPr marL="0" indent="0" algn="ctr">
              <a:buNone/>
            </a:pPr>
            <a:r>
              <a:rPr lang="en-US" sz="1600" b="1" dirty="0">
                <a:solidFill>
                  <a:srgbClr val="028090"/>
                </a:solidFill>
                <a:latin typeface="Century Schoolbook" pitchFamily="34" charset="0"/>
                <a:ea typeface="Century Schoolbook" pitchFamily="34" charset="-122"/>
                <a:cs typeface="Century Schoolbook" pitchFamily="34" charset="-120"/>
              </a:rPr>
              <a:t>1</a:t>
            </a:r>
            <a:endParaRPr lang="en-US" sz="1600" dirty="0"/>
          </a:p>
        </p:txBody>
      </p:sp>
      <p:sp>
        <p:nvSpPr>
          <p:cNvPr id="28" name="Text 24"/>
          <p:cNvSpPr/>
          <p:nvPr/>
        </p:nvSpPr>
        <p:spPr>
          <a:xfrm>
            <a:off x="7178040" y="2240280"/>
            <a:ext cx="420624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The model completes text.</a:t>
            </a:r>
            <a:endParaRPr lang="en-US" sz="1550" dirty="0"/>
          </a:p>
        </p:txBody>
      </p:sp>
      <p:sp>
        <p:nvSpPr>
          <p:cNvPr id="29" name="Text 25"/>
          <p:cNvSpPr/>
          <p:nvPr/>
        </p:nvSpPr>
        <p:spPr>
          <a:xfrm>
            <a:off x="7178040" y="2724912"/>
            <a:ext cx="4206240" cy="777240"/>
          </a:xfrm>
          <a:prstGeom prst="rect">
            <a:avLst/>
          </a:prstGeom>
          <a:noFill/>
          <a:ln/>
        </p:spPr>
        <p:txBody>
          <a:bodyPr wrap="square" lIns="0" tIns="0" rIns="0" bIns="0" rtlCol="0" anchor="ctr"/>
          <a:lstStyle/>
          <a:p>
            <a:pPr marL="0" indent="0">
              <a:lnSpc>
                <a:spcPct val="120000"/>
              </a:lnSpc>
              <a:buNone/>
            </a:pPr>
            <a:r>
              <a:rPr lang="en-US" sz="1250" dirty="0">
                <a:solidFill>
                  <a:srgbClr val="5B7373"/>
                </a:solidFill>
                <a:latin typeface="Calibri" pitchFamily="34" charset="0"/>
                <a:ea typeface="Calibri" pitchFamily="34" charset="-122"/>
                <a:cs typeface="Calibri" pitchFamily="34" charset="-120"/>
              </a:rPr>
              <a:t>Remove the ambiguity and you remove the guesswork. Every technique is a version of this.</a:t>
            </a:r>
            <a:endParaRPr lang="en-US" sz="1250" dirty="0"/>
          </a:p>
        </p:txBody>
      </p:sp>
      <p:sp>
        <p:nvSpPr>
          <p:cNvPr id="30" name="Shape 26"/>
          <p:cNvSpPr/>
          <p:nvPr/>
        </p:nvSpPr>
        <p:spPr>
          <a:xfrm>
            <a:off x="6583680" y="3584448"/>
            <a:ext cx="457200" cy="457200"/>
          </a:xfrm>
          <a:prstGeom prst="ellipse">
            <a:avLst/>
          </a:prstGeom>
          <a:solidFill>
            <a:srgbClr val="F4F8F7"/>
          </a:solidFill>
          <a:ln/>
        </p:spPr>
      </p:sp>
      <p:sp>
        <p:nvSpPr>
          <p:cNvPr id="31" name="Text 27"/>
          <p:cNvSpPr/>
          <p:nvPr/>
        </p:nvSpPr>
        <p:spPr>
          <a:xfrm>
            <a:off x="6583680" y="3584448"/>
            <a:ext cx="457200" cy="457200"/>
          </a:xfrm>
          <a:prstGeom prst="rect">
            <a:avLst/>
          </a:prstGeom>
          <a:noFill/>
          <a:ln/>
        </p:spPr>
        <p:txBody>
          <a:bodyPr wrap="square" lIns="0" tIns="0" rIns="0" bIns="0" rtlCol="0" anchor="ctr"/>
          <a:lstStyle/>
          <a:p>
            <a:pPr marL="0" indent="0" algn="ctr">
              <a:buNone/>
            </a:pPr>
            <a:r>
              <a:rPr lang="en-US" sz="1600" b="1" dirty="0">
                <a:solidFill>
                  <a:srgbClr val="028090"/>
                </a:solidFill>
                <a:latin typeface="Century Schoolbook" pitchFamily="34" charset="0"/>
                <a:ea typeface="Century Schoolbook" pitchFamily="34" charset="-122"/>
                <a:cs typeface="Century Schoolbook" pitchFamily="34" charset="-120"/>
              </a:rPr>
              <a:t>2</a:t>
            </a:r>
            <a:endParaRPr lang="en-US" sz="1600" dirty="0"/>
          </a:p>
        </p:txBody>
      </p:sp>
      <p:sp>
        <p:nvSpPr>
          <p:cNvPr id="32" name="Text 28"/>
          <p:cNvSpPr/>
          <p:nvPr/>
        </p:nvSpPr>
        <p:spPr>
          <a:xfrm>
            <a:off x="7178040" y="3538728"/>
            <a:ext cx="420624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Lean on the index.</a:t>
            </a:r>
            <a:endParaRPr lang="en-US" sz="1550" dirty="0"/>
          </a:p>
        </p:txBody>
      </p:sp>
      <p:sp>
        <p:nvSpPr>
          <p:cNvPr id="33" name="Text 29"/>
          <p:cNvSpPr/>
          <p:nvPr/>
        </p:nvSpPr>
        <p:spPr>
          <a:xfrm>
            <a:off x="7178040" y="4023360"/>
            <a:ext cx="4206240" cy="777240"/>
          </a:xfrm>
          <a:prstGeom prst="rect">
            <a:avLst/>
          </a:prstGeom>
          <a:noFill/>
          <a:ln/>
        </p:spPr>
        <p:txBody>
          <a:bodyPr wrap="square" lIns="0" tIns="0" rIns="0" bIns="0" rtlCol="0" anchor="ctr"/>
          <a:lstStyle/>
          <a:p>
            <a:pPr marL="0" indent="0">
              <a:lnSpc>
                <a:spcPct val="120000"/>
              </a:lnSpc>
              <a:buNone/>
            </a:pPr>
            <a:r>
              <a:rPr lang="en-US" sz="1250" dirty="0">
                <a:solidFill>
                  <a:srgbClr val="5B7373"/>
                </a:solidFill>
                <a:latin typeface="Calibri" pitchFamily="34" charset="0"/>
                <a:ea typeface="Calibri" pitchFamily="34" charset="-122"/>
                <a:cs typeface="Calibri" pitchFamily="34" charset="-120"/>
              </a:rPr>
              <a:t>Copilot already read the project. Name real code and ask it to follow existing patterns instead of over-explaining.</a:t>
            </a:r>
            <a:endParaRPr lang="en-US" sz="1250" dirty="0"/>
          </a:p>
        </p:txBody>
      </p:sp>
      <p:sp>
        <p:nvSpPr>
          <p:cNvPr id="34" name="Shape 30"/>
          <p:cNvSpPr/>
          <p:nvPr/>
        </p:nvSpPr>
        <p:spPr>
          <a:xfrm>
            <a:off x="6583680" y="4882896"/>
            <a:ext cx="457200" cy="457200"/>
          </a:xfrm>
          <a:prstGeom prst="ellipse">
            <a:avLst/>
          </a:prstGeom>
          <a:solidFill>
            <a:srgbClr val="F4F8F7"/>
          </a:solidFill>
          <a:ln/>
        </p:spPr>
      </p:sp>
      <p:sp>
        <p:nvSpPr>
          <p:cNvPr id="35" name="Text 31"/>
          <p:cNvSpPr/>
          <p:nvPr/>
        </p:nvSpPr>
        <p:spPr>
          <a:xfrm>
            <a:off x="6583680" y="4882896"/>
            <a:ext cx="457200" cy="457200"/>
          </a:xfrm>
          <a:prstGeom prst="rect">
            <a:avLst/>
          </a:prstGeom>
          <a:noFill/>
          <a:ln/>
        </p:spPr>
        <p:txBody>
          <a:bodyPr wrap="square" lIns="0" tIns="0" rIns="0" bIns="0" rtlCol="0" anchor="ctr"/>
          <a:lstStyle/>
          <a:p>
            <a:pPr marL="0" indent="0" algn="ctr">
              <a:buNone/>
            </a:pPr>
            <a:r>
              <a:rPr lang="en-US" sz="1600" b="1" dirty="0">
                <a:solidFill>
                  <a:srgbClr val="028090"/>
                </a:solidFill>
                <a:latin typeface="Century Schoolbook" pitchFamily="34" charset="0"/>
                <a:ea typeface="Century Schoolbook" pitchFamily="34" charset="-122"/>
                <a:cs typeface="Century Schoolbook" pitchFamily="34" charset="-120"/>
              </a:rPr>
              <a:t>3</a:t>
            </a:r>
            <a:endParaRPr lang="en-US" sz="1600" dirty="0"/>
          </a:p>
        </p:txBody>
      </p:sp>
      <p:sp>
        <p:nvSpPr>
          <p:cNvPr id="36" name="Text 32"/>
          <p:cNvSpPr/>
          <p:nvPr/>
        </p:nvSpPr>
        <p:spPr>
          <a:xfrm>
            <a:off x="7178040" y="4837176"/>
            <a:ext cx="4206240" cy="457200"/>
          </a:xfrm>
          <a:prstGeom prst="rect">
            <a:avLst/>
          </a:prstGeom>
          <a:noFill/>
          <a:ln/>
        </p:spPr>
        <p:txBody>
          <a:bodyPr wrap="square" lIns="0" tIns="0" rIns="0" bIns="0" rtlCol="0" anchor="ctr"/>
          <a:lstStyle/>
          <a:p>
            <a:pPr marL="0" indent="0">
              <a:buNone/>
            </a:pPr>
            <a:r>
              <a:rPr lang="en-US" sz="1550" b="1" dirty="0">
                <a:solidFill>
                  <a:srgbClr val="0F2E2E"/>
                </a:solidFill>
                <a:latin typeface="Calibri" pitchFamily="34" charset="0"/>
                <a:ea typeface="Calibri" pitchFamily="34" charset="-122"/>
                <a:cs typeface="Calibri" pitchFamily="34" charset="-120"/>
              </a:rPr>
              <a:t>Fewer, sharper tokens.</a:t>
            </a:r>
            <a:endParaRPr lang="en-US" sz="1550" dirty="0"/>
          </a:p>
        </p:txBody>
      </p:sp>
      <p:sp>
        <p:nvSpPr>
          <p:cNvPr id="37" name="Text 33"/>
          <p:cNvSpPr/>
          <p:nvPr/>
        </p:nvSpPr>
        <p:spPr>
          <a:xfrm>
            <a:off x="7178040" y="5321808"/>
            <a:ext cx="4206240" cy="777240"/>
          </a:xfrm>
          <a:prstGeom prst="rect">
            <a:avLst/>
          </a:prstGeom>
          <a:noFill/>
          <a:ln/>
        </p:spPr>
        <p:txBody>
          <a:bodyPr wrap="square" lIns="0" tIns="0" rIns="0" bIns="0" rtlCol="0" anchor="ctr"/>
          <a:lstStyle/>
          <a:p>
            <a:pPr marL="0" indent="0">
              <a:lnSpc>
                <a:spcPct val="120000"/>
              </a:lnSpc>
              <a:buNone/>
            </a:pPr>
            <a:r>
              <a:rPr lang="en-US" sz="1250" dirty="0">
                <a:solidFill>
                  <a:srgbClr val="5B7373"/>
                </a:solidFill>
                <a:latin typeface="Calibri" pitchFamily="34" charset="0"/>
                <a:ea typeface="Calibri" pitchFamily="34" charset="-122"/>
                <a:cs typeface="Calibri" pitchFamily="34" charset="-120"/>
              </a:rPr>
              <a:t>One precise prompt beats five rounds. Start fresh chats for new tasks; don't paste whole files.</a:t>
            </a:r>
            <a:endParaRPr lang="en-US" sz="1250" dirty="0"/>
          </a:p>
        </p:txBody>
      </p:sp>
      <p:sp>
        <p:nvSpPr>
          <p:cNvPr id="38" name="Text 34"/>
          <p:cNvSpPr/>
          <p:nvPr/>
        </p:nvSpPr>
        <p:spPr>
          <a:xfrm>
            <a:off x="6263640" y="5943600"/>
            <a:ext cx="5349240" cy="365760"/>
          </a:xfrm>
          <a:prstGeom prst="rect">
            <a:avLst/>
          </a:prstGeom>
          <a:noFill/>
          <a:ln/>
        </p:spPr>
        <p:txBody>
          <a:bodyPr wrap="square" lIns="0" tIns="0" rIns="0" bIns="0" rtlCol="0" anchor="ctr"/>
          <a:lstStyle/>
          <a:p>
            <a:pPr marL="0" indent="0" algn="ctr">
              <a:buNone/>
            </a:pPr>
            <a:r>
              <a:rPr lang="en-US" sz="1250" i="1" dirty="0">
                <a:solidFill>
                  <a:srgbClr val="028090"/>
                </a:solidFill>
                <a:latin typeface="Calibri" pitchFamily="34" charset="0"/>
                <a:ea typeface="Calibri" pitchFamily="34" charset="-122"/>
                <a:cs typeface="Calibri" pitchFamily="34" charset="-120"/>
              </a:rPr>
              <a:t>Questions — bring up a prompt you're wrestling with and we'll fix it live.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3237</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for Our Stack</dc:title>
  <dc:subject>PptxGenJS Presentation</dc:subject>
  <dc:creator>Ayush Singh</dc:creator>
  <cp:lastModifiedBy>Ayush Singh</cp:lastModifiedBy>
  <cp:revision>3</cp:revision>
  <dcterms:created xsi:type="dcterms:W3CDTF">2026-07-02T19:18:06Z</dcterms:created>
  <dcterms:modified xsi:type="dcterms:W3CDTF">2026-07-02T19:44:21Z</dcterms:modified>
</cp:coreProperties>
</file>